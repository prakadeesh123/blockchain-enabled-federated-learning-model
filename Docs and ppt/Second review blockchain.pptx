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2"/>
  </p:notesMasterIdLst>
  <p:sldIdLst>
    <p:sldId id="257" r:id="rId3"/>
    <p:sldId id="258" r:id="rId4"/>
    <p:sldId id="259" r:id="rId5"/>
    <p:sldId id="260" r:id="rId6"/>
    <p:sldId id="261" r:id="rId7"/>
    <p:sldId id="262" r:id="rId8"/>
    <p:sldId id="263" r:id="rId9"/>
    <p:sldId id="264" r:id="rId10"/>
    <p:sldId id="266" r:id="rId11"/>
    <p:sldId id="269" r:id="rId12"/>
    <p:sldId id="265" r:id="rId13"/>
    <p:sldId id="267" r:id="rId14"/>
    <p:sldId id="268" r:id="rId15"/>
    <p:sldId id="277" r:id="rId16"/>
    <p:sldId id="278" r:id="rId17"/>
    <p:sldId id="274" r:id="rId18"/>
    <p:sldId id="275" r:id="rId19"/>
    <p:sldId id="276" r:id="rId20"/>
    <p:sldId id="283" r:id="rId21"/>
    <p:sldId id="284" r:id="rId22"/>
    <p:sldId id="285" r:id="rId23"/>
    <p:sldId id="282" r:id="rId24"/>
    <p:sldId id="279" r:id="rId25"/>
    <p:sldId id="280" r:id="rId26"/>
    <p:sldId id="281" r:id="rId27"/>
    <p:sldId id="270" r:id="rId28"/>
    <p:sldId id="271" r:id="rId29"/>
    <p:sldId id="272" r:id="rId30"/>
    <p:sldId id="273" r:id="rId31"/>
  </p:sldIdLst>
  <p:sldSz cx="12192000" cy="6858000"/>
  <p:notesSz cx="710247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726" userDrawn="1">
          <p15:clr>
            <a:srgbClr val="A4A3A4"/>
          </p15:clr>
        </p15:guide>
        <p15:guide id="3"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FF"/>
    <a:srgbClr val="FFFF00"/>
    <a:srgbClr val="FF3300"/>
    <a:srgbClr val="00FF00"/>
    <a:srgbClr val="3333FF"/>
    <a:srgbClr val="3366FF"/>
    <a:srgbClr val="6699FF"/>
    <a:srgbClr val="E6004D"/>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0" autoAdjust="0"/>
    <p:restoredTop sz="94353" autoAdjust="0"/>
  </p:normalViewPr>
  <p:slideViewPr>
    <p:cSldViewPr snapToGrid="0" showGuides="1">
      <p:cViewPr varScale="1">
        <p:scale>
          <a:sx n="80" d="100"/>
          <a:sy n="80" d="100"/>
        </p:scale>
        <p:origin x="840" y="62"/>
      </p:cViewPr>
      <p:guideLst>
        <p:guide orient="horz" pos="2160"/>
        <p:guide pos="4726"/>
        <p:guide pos="3840"/>
      </p:guideLst>
    </p:cSldViewPr>
  </p:slideViewPr>
  <p:outlineViewPr>
    <p:cViewPr>
      <p:scale>
        <a:sx n="33" d="100"/>
        <a:sy n="33" d="100"/>
      </p:scale>
      <p:origin x="0" y="165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476269603310262"/>
          <c:y val="0.114974768029627"/>
          <c:w val="0.952373039668974"/>
          <c:h val="0.754159304640622"/>
        </c:manualLayout>
      </c:layout>
      <c:barChart>
        <c:barDir val="col"/>
        <c:grouping val="clustered"/>
        <c:varyColors val="0"/>
        <c:ser>
          <c:idx val="0"/>
          <c:order val="0"/>
          <c:tx>
            <c:strRef>
              <c:f>Sheet1!$B$1</c:f>
              <c:strCache>
                <c:ptCount val="1"/>
                <c:pt idx="0">
                  <c:v>Average Local Model Accuracy</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lstStyle/>
              <a:p>
                <a:pPr>
                  <a:defRPr lang="en-US" sz="1195" b="0" i="0" u="none" strike="noStrike" kern="1200" baseline="0">
                    <a:ln>
                      <a:solidFill>
                        <a:schemeClr val="tx1"/>
                      </a:solidFill>
                    </a:ln>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Deep Neural Network</c:v>
                </c:pt>
                <c:pt idx="1">
                  <c:v>Convolutional Neural Network</c:v>
                </c:pt>
                <c:pt idx="2">
                  <c:v>Logistic Regression</c:v>
                </c:pt>
              </c:strCache>
            </c:strRef>
          </c:cat>
          <c:val>
            <c:numRef>
              <c:f>Sheet1!$B$2:$B$5</c:f>
              <c:numCache>
                <c:formatCode>General</c:formatCode>
                <c:ptCount val="4"/>
                <c:pt idx="0">
                  <c:v>97.75</c:v>
                </c:pt>
                <c:pt idx="1">
                  <c:v>96.9</c:v>
                </c:pt>
                <c:pt idx="2">
                  <c:v>88.08</c:v>
                </c:pt>
              </c:numCache>
            </c:numRef>
          </c:val>
        </c:ser>
        <c:ser>
          <c:idx val="1"/>
          <c:order val="1"/>
          <c:tx>
            <c:strRef>
              <c:f>Sheet1!$C$1</c:f>
              <c:strCache>
                <c:ptCount val="1"/>
                <c:pt idx="0">
                  <c:v>Global Model Accuracy</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lstStyle/>
              <a:p>
                <a:pPr>
                  <a:defRPr lang="en-US" sz="1195" b="0" i="0" u="none" strike="noStrike" kern="1200" baseline="0">
                    <a:ln>
                      <a:solidFill>
                        <a:schemeClr val="tx1"/>
                      </a:solidFill>
                    </a:ln>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Deep Neural Network</c:v>
                </c:pt>
                <c:pt idx="1">
                  <c:v>Convolutional Neural Network</c:v>
                </c:pt>
                <c:pt idx="2">
                  <c:v>Logistic Regression</c:v>
                </c:pt>
              </c:strCache>
            </c:strRef>
          </c:cat>
          <c:val>
            <c:numRef>
              <c:f>Sheet1!$C$2:$C$5</c:f>
              <c:numCache>
                <c:formatCode>General</c:formatCode>
                <c:ptCount val="4"/>
                <c:pt idx="0">
                  <c:v>95.04</c:v>
                </c:pt>
                <c:pt idx="1">
                  <c:v>93.97</c:v>
                </c:pt>
                <c:pt idx="2">
                  <c:v>87.71</c:v>
                </c:pt>
              </c:numCache>
            </c:numRef>
          </c:val>
        </c:ser>
        <c:ser>
          <c:idx val="2"/>
          <c:order val="2"/>
          <c:tx>
            <c:strRef>
              <c:f>Sheet1!$D$1</c:f>
              <c:strCache>
                <c:ptCount val="1"/>
                <c:pt idx="0">
                  <c:v>Column1</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lstStyle/>
              <a:p>
                <a:pPr>
                  <a:defRPr lang="en-US" sz="1195"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Deep Neural Network</c:v>
                </c:pt>
                <c:pt idx="1">
                  <c:v>Convolutional Neural Network</c:v>
                </c:pt>
                <c:pt idx="2">
                  <c:v>Logistic Regression</c:v>
                </c:pt>
              </c:strCache>
            </c:strRef>
          </c:cat>
          <c:val>
            <c:numRef>
              <c:f>Sheet1!$D$2:$D$5</c:f>
              <c:numCache>
                <c:formatCode>General</c:formatCode>
                <c:ptCount val="4"/>
              </c:numCache>
            </c:numRef>
          </c:val>
        </c:ser>
        <c:dLbls>
          <c:showLegendKey val="0"/>
          <c:showVal val="1"/>
          <c:showCatName val="0"/>
          <c:showSerName val="0"/>
          <c:showPercent val="0"/>
          <c:showBubbleSize val="0"/>
        </c:dLbls>
        <c:gapWidth val="150"/>
        <c:axId val="1946911855"/>
        <c:axId val="1946908975"/>
      </c:barChart>
      <c:catAx>
        <c:axId val="1946911855"/>
        <c:scaling>
          <c:orientation val="minMax"/>
        </c:scaling>
        <c:delete val="0"/>
        <c:axPos val="b"/>
        <c:numFmt formatCode="General" sourceLinked="1"/>
        <c:majorTickMark val="none"/>
        <c:minorTickMark val="none"/>
        <c:tickLblPos val="nextTo"/>
        <c:spPr>
          <a:solidFill>
            <a:schemeClr val="bg1"/>
          </a:solidFill>
          <a:ln>
            <a:noFill/>
          </a:ln>
          <a:effectLst/>
        </c:spPr>
        <c:txPr>
          <a:bodyPr rot="-60000000" spcFirstLastPara="1" vertOverflow="ellipsis" vert="horz" wrap="square" anchor="ctr" anchorCtr="1"/>
          <a:lstStyle/>
          <a:p>
            <a:pPr>
              <a:defRPr lang="en-US" sz="1195" b="0" i="0" u="none" strike="noStrike" kern="1200" baseline="0">
                <a:solidFill>
                  <a:schemeClr val="tx1">
                    <a:lumMod val="95000"/>
                    <a:lumOff val="5000"/>
                  </a:schemeClr>
                </a:solidFill>
                <a:latin typeface="+mn-lt"/>
                <a:ea typeface="+mn-ea"/>
                <a:cs typeface="+mn-cs"/>
              </a:defRPr>
            </a:pPr>
          </a:p>
        </c:txPr>
        <c:crossAx val="1946908975"/>
        <c:crosses val="autoZero"/>
        <c:auto val="1"/>
        <c:lblAlgn val="ctr"/>
        <c:lblOffset val="100"/>
        <c:noMultiLvlLbl val="0"/>
      </c:catAx>
      <c:valAx>
        <c:axId val="1946908975"/>
        <c:scaling>
          <c:orientation val="minMax"/>
          <c:min val="0"/>
        </c:scaling>
        <c:delete val="0"/>
        <c:axPos val="l"/>
        <c:majorGridlines>
          <c:spPr>
            <a:ln w="9525" cap="flat" cmpd="sng" algn="ctr">
              <a:solidFill>
                <a:schemeClr val="tx1"/>
              </a:solidFill>
              <a:round/>
            </a:ln>
            <a:effectLst>
              <a:outerShdw blurRad="50800" dir="3600000" sx="1000" sy="1000" algn="ctr" rotWithShape="0">
                <a:srgbClr val="000000"/>
              </a:outerShdw>
            </a:effectLst>
          </c:spPr>
        </c:majorGridlines>
        <c:title>
          <c:tx>
            <c:rich>
              <a:bodyPr rot="-5400000" spcFirstLastPara="1" vertOverflow="ellipsis" vert="horz" wrap="square" anchor="ctr" anchorCtr="1"/>
              <a:lstStyle/>
              <a:p>
                <a:pPr>
                  <a:defRPr lang="en-US" sz="1330" b="0" i="0" u="none" strike="noStrike" kern="1200" baseline="0">
                    <a:solidFill>
                      <a:schemeClr val="tx1">
                        <a:lumMod val="95000"/>
                        <a:lumOff val="5000"/>
                      </a:schemeClr>
                    </a:solidFill>
                    <a:latin typeface="+mn-lt"/>
                    <a:ea typeface="+mn-ea"/>
                    <a:cs typeface="+mn-cs"/>
                  </a:defRPr>
                </a:pPr>
                <a:r>
                  <a:rPr lang="en-IN"/>
                  <a:t>Accuracy</a:t>
                </a:r>
                <a:endParaRPr lang="en-IN"/>
              </a:p>
            </c:rich>
          </c:tx>
          <c:layout>
            <c:manualLayout>
              <c:xMode val="edge"/>
              <c:yMode val="edge"/>
              <c:x val="0.00992432336235556"/>
              <c:y val="0.462702749674722"/>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lumMod val="95000"/>
                    <a:lumOff val="5000"/>
                  </a:schemeClr>
                </a:solidFill>
                <a:latin typeface="+mn-lt"/>
                <a:ea typeface="+mn-ea"/>
                <a:cs typeface="+mn-cs"/>
              </a:defRPr>
            </a:pPr>
          </a:p>
        </c:txPr>
        <c:crossAx val="1946911855"/>
        <c:crosses val="autoZero"/>
        <c:crossBetween val="between"/>
      </c:valAx>
      <c:spPr>
        <a:noFill/>
        <a:ln>
          <a:noFill/>
        </a:ln>
        <a:effectLst/>
      </c:spPr>
    </c:plotArea>
    <c:legend>
      <c:legendPos val="b"/>
      <c:legendEntry>
        <c:idx val="2"/>
        <c:delete val="1"/>
      </c:legendEntry>
      <c:layout/>
      <c:overlay val="0"/>
      <c:spPr>
        <a:noFill/>
        <a:ln>
          <a:noFill/>
        </a:ln>
        <a:effectLst/>
      </c:spPr>
      <c:txPr>
        <a:bodyPr rot="0" spcFirstLastPara="1" vertOverflow="ellipsis" vert="horz" wrap="square" anchor="ctr" anchorCtr="1"/>
        <a:lstStyle/>
        <a:p>
          <a:pPr>
            <a:defRPr lang="en-US" sz="1195"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74884b8-9dc3-4333-af2e-ce3158ace28d}"/>
      </c:ext>
    </c:extLst>
  </c:chart>
  <c:spPr>
    <a:noFill/>
    <a:ln w="12700">
      <a:solidFill>
        <a:schemeClr val="tx1"/>
      </a:solidFill>
    </a:ln>
    <a:effectLst/>
  </c:spPr>
  <c:txPr>
    <a:bodyPr/>
    <a:lstStyle/>
    <a:p>
      <a:pPr>
        <a:defRPr lang="en-US">
          <a:solidFill>
            <a:schemeClr val="tx1">
              <a:lumMod val="95000"/>
              <a:lumOff val="5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F7C4C11-FAE0-4D41-85EC-E4BED98D22A3}" type="doc">
      <dgm:prSet loTypeId="urn:microsoft.com/office/officeart/2005/8/layout/process5#1" loCatId="process" qsTypeId="urn:microsoft.com/office/officeart/2005/8/quickstyle/simple1#1" qsCatId="simple" csTypeId="urn:microsoft.com/office/officeart/2005/8/colors/colorful1#1" csCatId="colorful" phldr="1"/>
      <dgm:spPr/>
      <dgm:t>
        <a:bodyPr/>
        <a:lstStyle/>
        <a:p>
          <a:endParaRPr lang="en-IN"/>
        </a:p>
      </dgm:t>
    </dgm:pt>
    <dgm:pt modelId="{5C958EEE-62A6-4439-A9F6-49654110B38B}">
      <dgm:prSet phldrT="[Text]"/>
      <dgm:spPr/>
      <dgm:t>
        <a:bodyPr/>
        <a:lstStyle/>
        <a:p>
          <a:r>
            <a:rPr lang="en-IN" dirty="0"/>
            <a:t>Data collection and Preprocessing</a:t>
          </a:r>
        </a:p>
      </dgm:t>
    </dgm:pt>
    <dgm:pt modelId="{20535915-8FFC-44DE-BA71-847A30004EC5}" cxnId="{4BBB4DE0-2822-4DA6-BBC7-BE6A8C8EE992}" type="parTrans">
      <dgm:prSet/>
      <dgm:spPr/>
      <dgm:t>
        <a:bodyPr/>
        <a:lstStyle/>
        <a:p>
          <a:endParaRPr lang="en-IN"/>
        </a:p>
      </dgm:t>
    </dgm:pt>
    <dgm:pt modelId="{CF1A1142-F9AD-4E05-89D3-819736243BC8}" cxnId="{4BBB4DE0-2822-4DA6-BBC7-BE6A8C8EE992}" type="sibTrans">
      <dgm:prSet/>
      <dgm:spPr/>
      <dgm:t>
        <a:bodyPr/>
        <a:lstStyle/>
        <a:p>
          <a:endParaRPr lang="en-IN"/>
        </a:p>
      </dgm:t>
    </dgm:pt>
    <dgm:pt modelId="{7A2E4656-9C0E-423F-A93F-AF9FDB6E4452}">
      <dgm:prSet phldrT="[Text]"/>
      <dgm:spPr/>
      <dgm:t>
        <a:bodyPr/>
        <a:lstStyle/>
        <a:p>
          <a:r>
            <a:rPr lang="en-IN" dirty="0"/>
            <a:t>Blockchain</a:t>
          </a:r>
          <a:r>
            <a:rPr lang="en-IN" baseline="0" dirty="0"/>
            <a:t> Implementation</a:t>
          </a:r>
          <a:endParaRPr lang="en-IN" dirty="0"/>
        </a:p>
      </dgm:t>
    </dgm:pt>
    <dgm:pt modelId="{ECAD1AC9-5010-4A01-BC37-9E01A631DC99}" cxnId="{FCCE6DD6-7599-4032-86AA-C871F19B8815}" type="parTrans">
      <dgm:prSet/>
      <dgm:spPr/>
      <dgm:t>
        <a:bodyPr/>
        <a:lstStyle/>
        <a:p>
          <a:endParaRPr lang="en-IN"/>
        </a:p>
      </dgm:t>
    </dgm:pt>
    <dgm:pt modelId="{D0A39FE7-65E3-4C85-BC7C-051D8C250C77}" cxnId="{FCCE6DD6-7599-4032-86AA-C871F19B8815}" type="sibTrans">
      <dgm:prSet/>
      <dgm:spPr/>
      <dgm:t>
        <a:bodyPr/>
        <a:lstStyle/>
        <a:p>
          <a:endParaRPr lang="en-IN"/>
        </a:p>
      </dgm:t>
    </dgm:pt>
    <dgm:pt modelId="{2C87D388-0973-4D9A-B7D1-5584025C237C}">
      <dgm:prSet phldrT="[Text]"/>
      <dgm:spPr/>
      <dgm:t>
        <a:bodyPr/>
        <a:lstStyle/>
        <a:p>
          <a:r>
            <a:rPr lang="en-IN" dirty="0"/>
            <a:t>Federated</a:t>
          </a:r>
          <a:r>
            <a:rPr lang="en-IN" baseline="0" dirty="0"/>
            <a:t> Learning Model</a:t>
          </a:r>
          <a:endParaRPr lang="en-IN" dirty="0"/>
        </a:p>
      </dgm:t>
    </dgm:pt>
    <dgm:pt modelId="{CA727325-5279-4EB9-AD19-25ACE300A67C}" cxnId="{C71D63A3-7F9F-4186-ADB7-2D55E0E80C88}" type="parTrans">
      <dgm:prSet/>
      <dgm:spPr/>
      <dgm:t>
        <a:bodyPr/>
        <a:lstStyle/>
        <a:p>
          <a:endParaRPr lang="en-IN"/>
        </a:p>
      </dgm:t>
    </dgm:pt>
    <dgm:pt modelId="{73205586-8CF2-4B65-B4BB-F7F1A72A687B}" cxnId="{C71D63A3-7F9F-4186-ADB7-2D55E0E80C88}" type="sibTrans">
      <dgm:prSet/>
      <dgm:spPr/>
      <dgm:t>
        <a:bodyPr/>
        <a:lstStyle/>
        <a:p>
          <a:endParaRPr lang="en-IN"/>
        </a:p>
      </dgm:t>
    </dgm:pt>
    <dgm:pt modelId="{1875621B-C11A-44D8-96BA-C99C68F43B45}">
      <dgm:prSet phldrT="[Text]"/>
      <dgm:spPr/>
      <dgm:t>
        <a:bodyPr/>
        <a:lstStyle/>
        <a:p>
          <a:r>
            <a:rPr lang="en-IN" dirty="0"/>
            <a:t>Integration of Blockchain and Federated Learning</a:t>
          </a:r>
        </a:p>
      </dgm:t>
    </dgm:pt>
    <dgm:pt modelId="{7513159F-D346-4E87-92FF-72E08611FE04}" cxnId="{E90C1A75-1DA1-4D63-840C-A36B252C240F}" type="parTrans">
      <dgm:prSet/>
      <dgm:spPr/>
      <dgm:t>
        <a:bodyPr/>
        <a:lstStyle/>
        <a:p>
          <a:endParaRPr lang="en-IN"/>
        </a:p>
      </dgm:t>
    </dgm:pt>
    <dgm:pt modelId="{39A1EC19-3FC5-49D1-B94A-AA974110F582}" cxnId="{E90C1A75-1DA1-4D63-840C-A36B252C240F}" type="sibTrans">
      <dgm:prSet/>
      <dgm:spPr/>
      <dgm:t>
        <a:bodyPr/>
        <a:lstStyle/>
        <a:p>
          <a:endParaRPr lang="en-IN"/>
        </a:p>
      </dgm:t>
    </dgm:pt>
    <dgm:pt modelId="{31B79787-6E50-46F6-BB36-0E8C88D14BE9}">
      <dgm:prSet phldrT="[Text]"/>
      <dgm:spPr/>
      <dgm:t>
        <a:bodyPr/>
        <a:lstStyle/>
        <a:p>
          <a:r>
            <a:rPr lang="en-IN" dirty="0"/>
            <a:t>Testing and Evaluation</a:t>
          </a:r>
        </a:p>
      </dgm:t>
    </dgm:pt>
    <dgm:pt modelId="{D7EEAC04-145F-4610-ACDE-1C4654B0ABB4}" cxnId="{DDF3A839-52B7-410F-AAA5-34C45BEFBA58}" type="parTrans">
      <dgm:prSet/>
      <dgm:spPr/>
      <dgm:t>
        <a:bodyPr/>
        <a:lstStyle/>
        <a:p>
          <a:endParaRPr lang="en-IN"/>
        </a:p>
      </dgm:t>
    </dgm:pt>
    <dgm:pt modelId="{5ED25FD0-98A4-4FB5-AA5F-3DDA6FFB3D11}" cxnId="{DDF3A839-52B7-410F-AAA5-34C45BEFBA58}" type="sibTrans">
      <dgm:prSet/>
      <dgm:spPr/>
      <dgm:t>
        <a:bodyPr/>
        <a:lstStyle/>
        <a:p>
          <a:endParaRPr lang="en-IN"/>
        </a:p>
      </dgm:t>
    </dgm:pt>
    <dgm:pt modelId="{2F752437-2821-4370-A014-A4E389BF4D23}" type="pres">
      <dgm:prSet presAssocID="{0F7C4C11-FAE0-4D41-85EC-E4BED98D22A3}" presName="diagram" presStyleCnt="0">
        <dgm:presLayoutVars>
          <dgm:dir/>
          <dgm:resizeHandles val="exact"/>
        </dgm:presLayoutVars>
      </dgm:prSet>
      <dgm:spPr/>
    </dgm:pt>
    <dgm:pt modelId="{0914A9FB-C429-4832-BB44-A76052646AD8}" type="pres">
      <dgm:prSet presAssocID="{5C958EEE-62A6-4439-A9F6-49654110B38B}" presName="node" presStyleLbl="node1" presStyleIdx="0" presStyleCnt="5" custAng="0">
        <dgm:presLayoutVars>
          <dgm:bulletEnabled val="1"/>
        </dgm:presLayoutVars>
      </dgm:prSet>
      <dgm:spPr/>
    </dgm:pt>
    <dgm:pt modelId="{73E5A28A-354D-495B-B466-828460AC8F91}" type="pres">
      <dgm:prSet presAssocID="{CF1A1142-F9AD-4E05-89D3-819736243BC8}" presName="sibTrans" presStyleLbl="sibTrans2D1" presStyleIdx="0" presStyleCnt="4"/>
      <dgm:spPr/>
    </dgm:pt>
    <dgm:pt modelId="{C7935CE9-762C-4783-8E04-1F6EF140C668}" type="pres">
      <dgm:prSet presAssocID="{CF1A1142-F9AD-4E05-89D3-819736243BC8}" presName="connectorText" presStyleLbl="sibTrans2D1" presStyleIdx="0" presStyleCnt="4"/>
      <dgm:spPr/>
    </dgm:pt>
    <dgm:pt modelId="{CDECB509-42AA-4A45-A241-8144E5EA5328}" type="pres">
      <dgm:prSet presAssocID="{7A2E4656-9C0E-423F-A93F-AF9FDB6E4452}" presName="node" presStyleLbl="node1" presStyleIdx="1" presStyleCnt="5">
        <dgm:presLayoutVars>
          <dgm:bulletEnabled val="1"/>
        </dgm:presLayoutVars>
      </dgm:prSet>
      <dgm:spPr/>
    </dgm:pt>
    <dgm:pt modelId="{E10CB85C-FC6C-44B0-ACBA-F0E9AAABED20}" type="pres">
      <dgm:prSet presAssocID="{D0A39FE7-65E3-4C85-BC7C-051D8C250C77}" presName="sibTrans" presStyleLbl="sibTrans2D1" presStyleIdx="1" presStyleCnt="4"/>
      <dgm:spPr/>
    </dgm:pt>
    <dgm:pt modelId="{7B9BF54B-192D-4517-AD2D-EF71E1544B22}" type="pres">
      <dgm:prSet presAssocID="{D0A39FE7-65E3-4C85-BC7C-051D8C250C77}" presName="connectorText" presStyleLbl="sibTrans2D1" presStyleIdx="1" presStyleCnt="4"/>
      <dgm:spPr/>
    </dgm:pt>
    <dgm:pt modelId="{D6A272C9-F1F8-456E-8DF0-180D812CBE7B}" type="pres">
      <dgm:prSet presAssocID="{2C87D388-0973-4D9A-B7D1-5584025C237C}" presName="node" presStyleLbl="node1" presStyleIdx="2" presStyleCnt="5">
        <dgm:presLayoutVars>
          <dgm:bulletEnabled val="1"/>
        </dgm:presLayoutVars>
      </dgm:prSet>
      <dgm:spPr/>
    </dgm:pt>
    <dgm:pt modelId="{8D9A7450-C945-439F-A4AE-EB4464B73417}" type="pres">
      <dgm:prSet presAssocID="{73205586-8CF2-4B65-B4BB-F7F1A72A687B}" presName="sibTrans" presStyleLbl="sibTrans2D1" presStyleIdx="2" presStyleCnt="4"/>
      <dgm:spPr/>
    </dgm:pt>
    <dgm:pt modelId="{44B57519-35ED-414F-8478-5CD4865D91F9}" type="pres">
      <dgm:prSet presAssocID="{73205586-8CF2-4B65-B4BB-F7F1A72A687B}" presName="connectorText" presStyleLbl="sibTrans2D1" presStyleIdx="2" presStyleCnt="4"/>
      <dgm:spPr/>
    </dgm:pt>
    <dgm:pt modelId="{8CB323A1-3C26-4177-8D4C-2665ECC5D25A}" type="pres">
      <dgm:prSet presAssocID="{1875621B-C11A-44D8-96BA-C99C68F43B45}" presName="node" presStyleLbl="node1" presStyleIdx="3" presStyleCnt="5">
        <dgm:presLayoutVars>
          <dgm:bulletEnabled val="1"/>
        </dgm:presLayoutVars>
      </dgm:prSet>
      <dgm:spPr/>
    </dgm:pt>
    <dgm:pt modelId="{6D71B99E-5DC1-4C30-A148-2BE4EE929B5D}" type="pres">
      <dgm:prSet presAssocID="{39A1EC19-3FC5-49D1-B94A-AA974110F582}" presName="sibTrans" presStyleLbl="sibTrans2D1" presStyleIdx="3" presStyleCnt="4"/>
      <dgm:spPr/>
    </dgm:pt>
    <dgm:pt modelId="{DAC95532-98AA-4A9B-B048-6787AEBB9F01}" type="pres">
      <dgm:prSet presAssocID="{39A1EC19-3FC5-49D1-B94A-AA974110F582}" presName="connectorText" presStyleLbl="sibTrans2D1" presStyleIdx="3" presStyleCnt="4"/>
      <dgm:spPr/>
    </dgm:pt>
    <dgm:pt modelId="{563D5DB2-75C2-460C-A766-4065375D5A8A}" type="pres">
      <dgm:prSet presAssocID="{31B79787-6E50-46F6-BB36-0E8C88D14BE9}" presName="node" presStyleLbl="node1" presStyleIdx="4" presStyleCnt="5">
        <dgm:presLayoutVars>
          <dgm:bulletEnabled val="1"/>
        </dgm:presLayoutVars>
      </dgm:prSet>
      <dgm:spPr/>
    </dgm:pt>
  </dgm:ptLst>
  <dgm:cxnLst>
    <dgm:cxn modelId="{D561A001-AD03-4DC3-81E9-A0280F727B91}" type="presOf" srcId="{7A2E4656-9C0E-423F-A93F-AF9FDB6E4452}" destId="{CDECB509-42AA-4A45-A241-8144E5EA5328}" srcOrd="0" destOrd="0" presId="urn:microsoft.com/office/officeart/2005/8/layout/process5#1"/>
    <dgm:cxn modelId="{FC491119-46EC-4A2A-8B4B-1B15BF3D1943}" type="presOf" srcId="{CF1A1142-F9AD-4E05-89D3-819736243BC8}" destId="{73E5A28A-354D-495B-B466-828460AC8F91}" srcOrd="0" destOrd="0" presId="urn:microsoft.com/office/officeart/2005/8/layout/process5#1"/>
    <dgm:cxn modelId="{5C573634-E019-4D71-BBFF-069B0EC8E17A}" type="presOf" srcId="{2C87D388-0973-4D9A-B7D1-5584025C237C}" destId="{D6A272C9-F1F8-456E-8DF0-180D812CBE7B}" srcOrd="0" destOrd="0" presId="urn:microsoft.com/office/officeart/2005/8/layout/process5#1"/>
    <dgm:cxn modelId="{DDF3A839-52B7-410F-AAA5-34C45BEFBA58}" srcId="{0F7C4C11-FAE0-4D41-85EC-E4BED98D22A3}" destId="{31B79787-6E50-46F6-BB36-0E8C88D14BE9}" srcOrd="4" destOrd="0" parTransId="{D7EEAC04-145F-4610-ACDE-1C4654B0ABB4}" sibTransId="{5ED25FD0-98A4-4FB5-AA5F-3DDA6FFB3D11}"/>
    <dgm:cxn modelId="{57DCA774-49DB-4641-9C47-901D039E04C2}" type="presOf" srcId="{73205586-8CF2-4B65-B4BB-F7F1A72A687B}" destId="{8D9A7450-C945-439F-A4AE-EB4464B73417}" srcOrd="0" destOrd="0" presId="urn:microsoft.com/office/officeart/2005/8/layout/process5#1"/>
    <dgm:cxn modelId="{E90C1A75-1DA1-4D63-840C-A36B252C240F}" srcId="{0F7C4C11-FAE0-4D41-85EC-E4BED98D22A3}" destId="{1875621B-C11A-44D8-96BA-C99C68F43B45}" srcOrd="3" destOrd="0" parTransId="{7513159F-D346-4E87-92FF-72E08611FE04}" sibTransId="{39A1EC19-3FC5-49D1-B94A-AA974110F582}"/>
    <dgm:cxn modelId="{83D9E757-0BEB-4B2E-916F-BB7BC6166282}" type="presOf" srcId="{D0A39FE7-65E3-4C85-BC7C-051D8C250C77}" destId="{E10CB85C-FC6C-44B0-ACBA-F0E9AAABED20}" srcOrd="0" destOrd="0" presId="urn:microsoft.com/office/officeart/2005/8/layout/process5#1"/>
    <dgm:cxn modelId="{28994A5A-3395-4FD2-9393-6DD7F5BE0147}" type="presOf" srcId="{31B79787-6E50-46F6-BB36-0E8C88D14BE9}" destId="{563D5DB2-75C2-460C-A766-4065375D5A8A}" srcOrd="0" destOrd="0" presId="urn:microsoft.com/office/officeart/2005/8/layout/process5#1"/>
    <dgm:cxn modelId="{A6FA4894-1B8B-4482-957F-CBB2AD063C94}" type="presOf" srcId="{1875621B-C11A-44D8-96BA-C99C68F43B45}" destId="{8CB323A1-3C26-4177-8D4C-2665ECC5D25A}" srcOrd="0" destOrd="0" presId="urn:microsoft.com/office/officeart/2005/8/layout/process5#1"/>
    <dgm:cxn modelId="{924A6D96-4DC1-4FA0-BEB2-ED8D27ABAAF9}" type="presOf" srcId="{5C958EEE-62A6-4439-A9F6-49654110B38B}" destId="{0914A9FB-C429-4832-BB44-A76052646AD8}" srcOrd="0" destOrd="0" presId="urn:microsoft.com/office/officeart/2005/8/layout/process5#1"/>
    <dgm:cxn modelId="{5DD23799-9A85-4E3F-BECF-B8CA28A57796}" type="presOf" srcId="{39A1EC19-3FC5-49D1-B94A-AA974110F582}" destId="{DAC95532-98AA-4A9B-B048-6787AEBB9F01}" srcOrd="1" destOrd="0" presId="urn:microsoft.com/office/officeart/2005/8/layout/process5#1"/>
    <dgm:cxn modelId="{C71D63A3-7F9F-4186-ADB7-2D55E0E80C88}" srcId="{0F7C4C11-FAE0-4D41-85EC-E4BED98D22A3}" destId="{2C87D388-0973-4D9A-B7D1-5584025C237C}" srcOrd="2" destOrd="0" parTransId="{CA727325-5279-4EB9-AD19-25ACE300A67C}" sibTransId="{73205586-8CF2-4B65-B4BB-F7F1A72A687B}"/>
    <dgm:cxn modelId="{C08699B2-63B6-4939-A2E1-3C6EBC53E4DD}" type="presOf" srcId="{39A1EC19-3FC5-49D1-B94A-AA974110F582}" destId="{6D71B99E-5DC1-4C30-A148-2BE4EE929B5D}" srcOrd="0" destOrd="0" presId="urn:microsoft.com/office/officeart/2005/8/layout/process5#1"/>
    <dgm:cxn modelId="{3BD4AABA-C2DE-43F8-9386-CA53CDEA6C5C}" type="presOf" srcId="{D0A39FE7-65E3-4C85-BC7C-051D8C250C77}" destId="{7B9BF54B-192D-4517-AD2D-EF71E1544B22}" srcOrd="1" destOrd="0" presId="urn:microsoft.com/office/officeart/2005/8/layout/process5#1"/>
    <dgm:cxn modelId="{8C254DD3-504A-4E8A-A793-651E1D1AFA30}" type="presOf" srcId="{73205586-8CF2-4B65-B4BB-F7F1A72A687B}" destId="{44B57519-35ED-414F-8478-5CD4865D91F9}" srcOrd="1" destOrd="0" presId="urn:microsoft.com/office/officeart/2005/8/layout/process5#1"/>
    <dgm:cxn modelId="{FCCE6DD6-7599-4032-86AA-C871F19B8815}" srcId="{0F7C4C11-FAE0-4D41-85EC-E4BED98D22A3}" destId="{7A2E4656-9C0E-423F-A93F-AF9FDB6E4452}" srcOrd="1" destOrd="0" parTransId="{ECAD1AC9-5010-4A01-BC37-9E01A631DC99}" sibTransId="{D0A39FE7-65E3-4C85-BC7C-051D8C250C77}"/>
    <dgm:cxn modelId="{4BBB4DE0-2822-4DA6-BBC7-BE6A8C8EE992}" srcId="{0F7C4C11-FAE0-4D41-85EC-E4BED98D22A3}" destId="{5C958EEE-62A6-4439-A9F6-49654110B38B}" srcOrd="0" destOrd="0" parTransId="{20535915-8FFC-44DE-BA71-847A30004EC5}" sibTransId="{CF1A1142-F9AD-4E05-89D3-819736243BC8}"/>
    <dgm:cxn modelId="{D9193CF7-3C7D-4690-BA2F-57A2F34B1F68}" type="presOf" srcId="{0F7C4C11-FAE0-4D41-85EC-E4BED98D22A3}" destId="{2F752437-2821-4370-A014-A4E389BF4D23}" srcOrd="0" destOrd="0" presId="urn:microsoft.com/office/officeart/2005/8/layout/process5#1"/>
    <dgm:cxn modelId="{CE4BB1F7-062D-4C28-A27C-44B608C96BA9}" type="presOf" srcId="{CF1A1142-F9AD-4E05-89D3-819736243BC8}" destId="{C7935CE9-762C-4783-8E04-1F6EF140C668}" srcOrd="1" destOrd="0" presId="urn:microsoft.com/office/officeart/2005/8/layout/process5#1"/>
    <dgm:cxn modelId="{D703F6D0-4091-4900-BB8D-AA62A3B44536}" type="presParOf" srcId="{2F752437-2821-4370-A014-A4E389BF4D23}" destId="{0914A9FB-C429-4832-BB44-A76052646AD8}" srcOrd="0" destOrd="0" presId="urn:microsoft.com/office/officeart/2005/8/layout/process5#1"/>
    <dgm:cxn modelId="{32608141-0EEF-495F-97F0-609BA056BA48}" type="presParOf" srcId="{2F752437-2821-4370-A014-A4E389BF4D23}" destId="{73E5A28A-354D-495B-B466-828460AC8F91}" srcOrd="1" destOrd="0" presId="urn:microsoft.com/office/officeart/2005/8/layout/process5#1"/>
    <dgm:cxn modelId="{D7322F66-5061-4E3F-B616-2300954B0BF8}" type="presParOf" srcId="{73E5A28A-354D-495B-B466-828460AC8F91}" destId="{C7935CE9-762C-4783-8E04-1F6EF140C668}" srcOrd="0" destOrd="0" presId="urn:microsoft.com/office/officeart/2005/8/layout/process5#1"/>
    <dgm:cxn modelId="{E45FF248-6B1D-4F46-8FEF-98D48CF0872A}" type="presParOf" srcId="{2F752437-2821-4370-A014-A4E389BF4D23}" destId="{CDECB509-42AA-4A45-A241-8144E5EA5328}" srcOrd="2" destOrd="0" presId="urn:microsoft.com/office/officeart/2005/8/layout/process5#1"/>
    <dgm:cxn modelId="{8AB26231-C068-4E60-BCA6-5B93E9BA2FDA}" type="presParOf" srcId="{2F752437-2821-4370-A014-A4E389BF4D23}" destId="{E10CB85C-FC6C-44B0-ACBA-F0E9AAABED20}" srcOrd="3" destOrd="0" presId="urn:microsoft.com/office/officeart/2005/8/layout/process5#1"/>
    <dgm:cxn modelId="{BE191427-DB44-4266-A62B-65DA2956F4FC}" type="presParOf" srcId="{E10CB85C-FC6C-44B0-ACBA-F0E9AAABED20}" destId="{7B9BF54B-192D-4517-AD2D-EF71E1544B22}" srcOrd="0" destOrd="0" presId="urn:microsoft.com/office/officeart/2005/8/layout/process5#1"/>
    <dgm:cxn modelId="{4E3AD26A-E461-4E4E-AC46-E0EA8BCB3985}" type="presParOf" srcId="{2F752437-2821-4370-A014-A4E389BF4D23}" destId="{D6A272C9-F1F8-456E-8DF0-180D812CBE7B}" srcOrd="4" destOrd="0" presId="urn:microsoft.com/office/officeart/2005/8/layout/process5#1"/>
    <dgm:cxn modelId="{68942F8A-B837-4EEC-A3B6-1E5218BAD1FB}" type="presParOf" srcId="{2F752437-2821-4370-A014-A4E389BF4D23}" destId="{8D9A7450-C945-439F-A4AE-EB4464B73417}" srcOrd="5" destOrd="0" presId="urn:microsoft.com/office/officeart/2005/8/layout/process5#1"/>
    <dgm:cxn modelId="{F2A13E4F-E3CB-4DA2-8600-EFA32B62CFE5}" type="presParOf" srcId="{8D9A7450-C945-439F-A4AE-EB4464B73417}" destId="{44B57519-35ED-414F-8478-5CD4865D91F9}" srcOrd="0" destOrd="0" presId="urn:microsoft.com/office/officeart/2005/8/layout/process5#1"/>
    <dgm:cxn modelId="{A5D4141D-D6B7-4EB7-912E-C2DD6FAF297B}" type="presParOf" srcId="{2F752437-2821-4370-A014-A4E389BF4D23}" destId="{8CB323A1-3C26-4177-8D4C-2665ECC5D25A}" srcOrd="6" destOrd="0" presId="urn:microsoft.com/office/officeart/2005/8/layout/process5#1"/>
    <dgm:cxn modelId="{0AEC3560-7C98-4775-B727-7FEAAF2FE761}" type="presParOf" srcId="{2F752437-2821-4370-A014-A4E389BF4D23}" destId="{6D71B99E-5DC1-4C30-A148-2BE4EE929B5D}" srcOrd="7" destOrd="0" presId="urn:microsoft.com/office/officeart/2005/8/layout/process5#1"/>
    <dgm:cxn modelId="{A74AA247-29C4-4AD7-AC52-C714195B0B29}" type="presParOf" srcId="{6D71B99E-5DC1-4C30-A148-2BE4EE929B5D}" destId="{DAC95532-98AA-4A9B-B048-6787AEBB9F01}" srcOrd="0" destOrd="0" presId="urn:microsoft.com/office/officeart/2005/8/layout/process5#1"/>
    <dgm:cxn modelId="{A045A104-633D-48A6-959A-91193114AFA2}" type="presParOf" srcId="{2F752437-2821-4370-A014-A4E389BF4D23}" destId="{563D5DB2-75C2-460C-A766-4065375D5A8A}" srcOrd="8" destOrd="0" presId="urn:microsoft.com/office/officeart/2005/8/layout/process5#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146221" cy="5044966"/>
        <a:chOff x="0" y="0"/>
        <a:chExt cx="11146221" cy="5044966"/>
      </a:xfrm>
    </dsp:grpSpPr>
    <dsp:sp modelId="{0914A9FB-C429-4832-BB44-A76052646AD8}">
      <dsp:nvSpPr>
        <dsp:cNvPr id="3" name="Rounded Rectangle 2"/>
        <dsp:cNvSpPr/>
      </dsp:nvSpPr>
      <dsp:spPr bwMode="white">
        <a:xfrm>
          <a:off x="9796" y="177314"/>
          <a:ext cx="2933502" cy="1760101"/>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t>Data collection and Preprocessing</a:t>
          </a:r>
        </a:p>
      </dsp:txBody>
      <dsp:txXfrm>
        <a:off x="9796" y="177314"/>
        <a:ext cx="2933502" cy="1760101"/>
      </dsp:txXfrm>
    </dsp:sp>
    <dsp:sp modelId="{73E5A28A-354D-495B-B466-828460AC8F91}">
      <dsp:nvSpPr>
        <dsp:cNvPr id="4" name="Right Arrow 3"/>
        <dsp:cNvSpPr/>
      </dsp:nvSpPr>
      <dsp:spPr bwMode="white">
        <a:xfrm>
          <a:off x="3219048" y="693610"/>
          <a:ext cx="621903" cy="727509"/>
        </a:xfrm>
        <a:prstGeom prs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lIns="0" tIns="0" rIns="0" bIns="0" anchor="ctr"/>
        <a:lstStyle>
          <a:lvl1pPr algn="ctr">
            <a:defRPr sz="28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endParaRPr lang="en-IN"/>
        </a:p>
      </dsp:txBody>
      <dsp:txXfrm>
        <a:off x="3219048" y="693610"/>
        <a:ext cx="621903" cy="727509"/>
      </dsp:txXfrm>
    </dsp:sp>
    <dsp:sp modelId="{CDECB509-42AA-4A45-A241-8144E5EA5328}">
      <dsp:nvSpPr>
        <dsp:cNvPr id="5" name="Rounded Rectangle 4"/>
        <dsp:cNvSpPr/>
      </dsp:nvSpPr>
      <dsp:spPr bwMode="white">
        <a:xfrm>
          <a:off x="4116700" y="177314"/>
          <a:ext cx="2933502" cy="1760101"/>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t>Blockchain</a:t>
          </a:r>
          <a:r>
            <a:rPr lang="en-IN" baseline="0" dirty="0"/>
            <a:t> Implementation</a:t>
          </a:r>
          <a:endParaRPr lang="en-IN" dirty="0"/>
        </a:p>
      </dsp:txBody>
      <dsp:txXfrm>
        <a:off x="4116700" y="177314"/>
        <a:ext cx="2933502" cy="1760101"/>
      </dsp:txXfrm>
    </dsp:sp>
    <dsp:sp modelId="{E10CB85C-FC6C-44B0-ACBA-F0E9AAABED20}">
      <dsp:nvSpPr>
        <dsp:cNvPr id="6" name="Right Arrow 5"/>
        <dsp:cNvSpPr/>
      </dsp:nvSpPr>
      <dsp:spPr bwMode="white">
        <a:xfrm>
          <a:off x="7325952" y="693610"/>
          <a:ext cx="621903" cy="727509"/>
        </a:xfrm>
        <a:prstGeom prs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lIns="0" tIns="0" rIns="0" bIns="0" anchor="ctr"/>
        <a:lstStyle>
          <a:lvl1pPr algn="ctr">
            <a:defRPr sz="28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endParaRPr lang="en-IN"/>
        </a:p>
      </dsp:txBody>
      <dsp:txXfrm>
        <a:off x="7325952" y="693610"/>
        <a:ext cx="621903" cy="727509"/>
      </dsp:txXfrm>
    </dsp:sp>
    <dsp:sp modelId="{D6A272C9-F1F8-456E-8DF0-180D812CBE7B}">
      <dsp:nvSpPr>
        <dsp:cNvPr id="7" name="Rounded Rectangle 6"/>
        <dsp:cNvSpPr/>
      </dsp:nvSpPr>
      <dsp:spPr bwMode="white">
        <a:xfrm>
          <a:off x="8223603" y="177314"/>
          <a:ext cx="2933502" cy="1760101"/>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t>Federated</a:t>
          </a:r>
          <a:r>
            <a:rPr lang="en-IN" baseline="0" dirty="0"/>
            <a:t> Learning Model</a:t>
          </a:r>
          <a:endParaRPr lang="en-IN" dirty="0"/>
        </a:p>
      </dsp:txBody>
      <dsp:txXfrm>
        <a:off x="8223603" y="177314"/>
        <a:ext cx="2933502" cy="1760101"/>
      </dsp:txXfrm>
    </dsp:sp>
    <dsp:sp modelId="{8D9A7450-C945-439F-A4AE-EB4464B73417}">
      <dsp:nvSpPr>
        <dsp:cNvPr id="8" name="Right Arrow 7"/>
        <dsp:cNvSpPr/>
      </dsp:nvSpPr>
      <dsp:spPr bwMode="white">
        <a:xfrm rot="5424263">
          <a:off x="9369920" y="2158729"/>
          <a:ext cx="620187" cy="727509"/>
        </a:xfrm>
        <a:prstGeom prst="righ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rot="-5400000" lIns="0" tIns="0" rIns="0" bIns="0" anchor="ctr"/>
        <a:lstStyle>
          <a:lvl1pPr algn="ctr">
            <a:defRPr sz="28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endParaRPr lang="en-IN"/>
        </a:p>
      </dsp:txBody>
      <dsp:txXfrm rot="5424263">
        <a:off x="9369920" y="2158729"/>
        <a:ext cx="620187" cy="727509"/>
      </dsp:txXfrm>
    </dsp:sp>
    <dsp:sp modelId="{8CB323A1-3C26-4177-8D4C-2665ECC5D25A}">
      <dsp:nvSpPr>
        <dsp:cNvPr id="9" name="Rounded Rectangle 8"/>
        <dsp:cNvSpPr/>
      </dsp:nvSpPr>
      <dsp:spPr bwMode="white">
        <a:xfrm>
          <a:off x="8202922" y="3107551"/>
          <a:ext cx="2933502" cy="1760101"/>
        </a:xfrm>
        <a:prstGeom prst="roundRect">
          <a:avLst>
            <a:gd name="adj" fmla="val 10000"/>
          </a:avLst>
        </a:prstGeom>
      </dsp:spPr>
      <dsp:style>
        <a:lnRef idx="2">
          <a:schemeClr val="lt1"/>
        </a:lnRef>
        <a:fillRef idx="1">
          <a:schemeClr val="accent5"/>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t>Integration of Blockchain and Federated Learning</a:t>
          </a:r>
        </a:p>
      </dsp:txBody>
      <dsp:txXfrm>
        <a:off x="8202922" y="3107551"/>
        <a:ext cx="2933502" cy="1760101"/>
      </dsp:txXfrm>
    </dsp:sp>
    <dsp:sp modelId="{6D71B99E-5DC1-4C30-A148-2BE4EE929B5D}">
      <dsp:nvSpPr>
        <dsp:cNvPr id="10" name="Right Arrow 9"/>
        <dsp:cNvSpPr/>
      </dsp:nvSpPr>
      <dsp:spPr bwMode="white">
        <a:xfrm rot="10800000">
          <a:off x="7305270" y="3623847"/>
          <a:ext cx="621903" cy="727509"/>
        </a:xfrm>
        <a:prstGeom prst="rightArrow">
          <a:avLst>
            <a:gd name="adj1" fmla="val 60000"/>
            <a:gd name="adj2" fmla="val 50000"/>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Body>
        <a:bodyPr rot="10800000" lIns="0" tIns="0" rIns="0" bIns="0" anchor="ctr"/>
        <a:lstStyle>
          <a:lvl1pPr algn="ctr">
            <a:defRPr sz="28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endParaRPr lang="en-IN"/>
        </a:p>
      </dsp:txBody>
      <dsp:txXfrm rot="10800000">
        <a:off x="7305270" y="3623847"/>
        <a:ext cx="621903" cy="727509"/>
      </dsp:txXfrm>
    </dsp:sp>
    <dsp:sp modelId="{563D5DB2-75C2-460C-A766-4065375D5A8A}">
      <dsp:nvSpPr>
        <dsp:cNvPr id="11" name="Rounded Rectangle 10"/>
        <dsp:cNvSpPr/>
      </dsp:nvSpPr>
      <dsp:spPr bwMode="white">
        <a:xfrm>
          <a:off x="4096019" y="3107551"/>
          <a:ext cx="2933502" cy="1760101"/>
        </a:xfrm>
        <a:prstGeom prst="roundRect">
          <a:avLst>
            <a:gd name="adj" fmla="val 10000"/>
          </a:avLst>
        </a:prstGeom>
      </dsp:spPr>
      <dsp:style>
        <a:lnRef idx="2">
          <a:schemeClr val="lt1"/>
        </a:lnRef>
        <a:fillRef idx="1">
          <a:schemeClr val="accent6"/>
        </a:fillRef>
        <a:effectRef idx="0">
          <a:scrgbClr r="0" g="0" b="0"/>
        </a:effectRef>
        <a:fontRef idx="minor">
          <a:schemeClr val="lt1"/>
        </a:fontRef>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t>Testing and Evaluation</a:t>
          </a:r>
        </a:p>
      </dsp:txBody>
      <dsp:txXfrm>
        <a:off x="4096019" y="3107551"/>
        <a:ext cx="2933502" cy="176010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1">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0" name="Header Placeholder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lang="en-US"/>
          </a:p>
        </p:txBody>
      </p:sp>
      <p:sp>
        <p:nvSpPr>
          <p:cNvPr id="1048671" name="Date Placeholder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B044B109-F939-44EF-8B54-4E4DC485E298}" type="datetimeFigureOut">
              <a:rPr lang="en-US" smtClean="0"/>
            </a:fld>
            <a:endParaRPr lang="en-US"/>
          </a:p>
        </p:txBody>
      </p:sp>
      <p:sp>
        <p:nvSpPr>
          <p:cNvPr id="1048672" name="Slide Image Placeholder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9066" tIns="49533" rIns="99066" bIns="49533" rtlCol="0" anchor="ctr"/>
          <a:lstStyle/>
          <a:p>
            <a:endParaRPr lang="en-US"/>
          </a:p>
        </p:txBody>
      </p:sp>
      <p:sp>
        <p:nvSpPr>
          <p:cNvPr id="1048673" name="Notes Placeholder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74" name="Footer Placeholder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lang="en-US"/>
          </a:p>
        </p:txBody>
      </p:sp>
      <p:sp>
        <p:nvSpPr>
          <p:cNvPr id="1048675" name="Slide Number Placeholder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972A378E-FDF4-4829-97A3-3A860E82CD3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3"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1048614"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48615" name="Date Placeholder 3"/>
          <p:cNvSpPr>
            <a:spLocks noGrp="1"/>
          </p:cNvSpPr>
          <p:nvPr>
            <p:ph type="dt" sz="half" idx="10"/>
          </p:nvPr>
        </p:nvSpPr>
        <p:spPr/>
        <p:txBody>
          <a:bodyPr/>
          <a:lstStyle/>
          <a:p>
            <a:fld id="{4795E612-A0DE-4472-8821-FD417FD9B0B9}" type="datetimeFigureOut">
              <a:rPr lang="en-US" smtClean="0"/>
            </a:fld>
            <a:endParaRPr lang="en-US"/>
          </a:p>
        </p:txBody>
      </p:sp>
      <p:sp>
        <p:nvSpPr>
          <p:cNvPr id="1048616" name="Footer Placeholder 4"/>
          <p:cNvSpPr>
            <a:spLocks noGrp="1"/>
          </p:cNvSpPr>
          <p:nvPr>
            <p:ph type="ftr" sz="quarter" idx="11"/>
          </p:nvPr>
        </p:nvSpPr>
        <p:spPr/>
        <p:txBody>
          <a:bodyPr/>
          <a:lstStyle/>
          <a:p>
            <a:endParaRPr lang="en-US"/>
          </a:p>
        </p:txBody>
      </p:sp>
      <p:sp>
        <p:nvSpPr>
          <p:cNvPr id="1048617" name="Slide Number Placeholder 5"/>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48627" name="Title 1"/>
          <p:cNvSpPr>
            <a:spLocks noGrp="1"/>
          </p:cNvSpPr>
          <p:nvPr>
            <p:ph type="title"/>
          </p:nvPr>
        </p:nvSpPr>
        <p:spPr/>
        <p:txBody>
          <a:bodyPr/>
          <a:lstStyle/>
          <a:p>
            <a:r>
              <a:rPr lang="en-US"/>
              <a:t>Click to edit Master title style</a:t>
            </a:r>
            <a:endParaRPr lang="en-US" dirty="0"/>
          </a:p>
        </p:txBody>
      </p:sp>
      <p:sp>
        <p:nvSpPr>
          <p:cNvPr id="1048628" name="Date Placeholder 3"/>
          <p:cNvSpPr>
            <a:spLocks noGrp="1"/>
          </p:cNvSpPr>
          <p:nvPr>
            <p:ph type="dt" sz="half" idx="10"/>
          </p:nvPr>
        </p:nvSpPr>
        <p:spPr/>
        <p:txBody>
          <a:bodyPr/>
          <a:lstStyle/>
          <a:p>
            <a:fld id="{4795E612-A0DE-4472-8821-FD417FD9B0B9}" type="datetimeFigureOut">
              <a:rPr lang="en-US" smtClean="0"/>
            </a:fld>
            <a:endParaRPr lang="en-US"/>
          </a:p>
        </p:txBody>
      </p:sp>
      <p:sp>
        <p:nvSpPr>
          <p:cNvPr id="1048629" name="Footer Placeholder 4"/>
          <p:cNvSpPr>
            <a:spLocks noGrp="1"/>
          </p:cNvSpPr>
          <p:nvPr>
            <p:ph type="ftr" sz="quarter" idx="11"/>
          </p:nvPr>
        </p:nvSpPr>
        <p:spPr/>
        <p:txBody>
          <a:bodyPr/>
          <a:lstStyle/>
          <a:p>
            <a:endParaRPr lang="en-US"/>
          </a:p>
        </p:txBody>
      </p:sp>
      <p:sp>
        <p:nvSpPr>
          <p:cNvPr id="1048630" name="Slide Number Placeholder 5"/>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104864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48644" name="Date Placeholder 3"/>
          <p:cNvSpPr>
            <a:spLocks noGrp="1"/>
          </p:cNvSpPr>
          <p:nvPr>
            <p:ph type="dt" sz="half" idx="10"/>
          </p:nvPr>
        </p:nvSpPr>
        <p:spPr/>
        <p:txBody>
          <a:bodyPr/>
          <a:lstStyle/>
          <a:p>
            <a:fld id="{4795E612-A0DE-4472-8821-FD417FD9B0B9}" type="datetimeFigureOut">
              <a:rPr lang="en-US" smtClean="0"/>
            </a:fld>
            <a:endParaRPr lang="en-US"/>
          </a:p>
        </p:txBody>
      </p:sp>
      <p:sp>
        <p:nvSpPr>
          <p:cNvPr id="1048645" name="Footer Placeholder 4"/>
          <p:cNvSpPr>
            <a:spLocks noGrp="1"/>
          </p:cNvSpPr>
          <p:nvPr>
            <p:ph type="ftr" sz="quarter" idx="11"/>
          </p:nvPr>
        </p:nvSpPr>
        <p:spPr/>
        <p:txBody>
          <a:bodyPr/>
          <a:lstStyle/>
          <a:p>
            <a:endParaRPr lang="en-US"/>
          </a:p>
        </p:txBody>
      </p:sp>
      <p:sp>
        <p:nvSpPr>
          <p:cNvPr id="1048646" name="Slide Number Placeholder 5"/>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47" name="Title 1"/>
          <p:cNvSpPr>
            <a:spLocks noGrp="1"/>
          </p:cNvSpPr>
          <p:nvPr>
            <p:ph type="title"/>
          </p:nvPr>
        </p:nvSpPr>
        <p:spPr/>
        <p:txBody>
          <a:bodyPr/>
          <a:lstStyle/>
          <a:p>
            <a:r>
              <a:rPr lang="en-US"/>
              <a:t>Click to edit Master title style</a:t>
            </a:r>
            <a:endParaRPr lang="en-US" dirty="0"/>
          </a:p>
        </p:txBody>
      </p:sp>
      <p:sp>
        <p:nvSpPr>
          <p:cNvPr id="1048648"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49"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50" name="Date Placeholder 4"/>
          <p:cNvSpPr>
            <a:spLocks noGrp="1"/>
          </p:cNvSpPr>
          <p:nvPr>
            <p:ph type="dt" sz="half" idx="10"/>
          </p:nvPr>
        </p:nvSpPr>
        <p:spPr/>
        <p:txBody>
          <a:bodyPr/>
          <a:lstStyle/>
          <a:p>
            <a:fld id="{4795E612-A0DE-4472-8821-FD417FD9B0B9}" type="datetimeFigureOut">
              <a:rPr lang="en-US" smtClean="0"/>
            </a:fld>
            <a:endParaRPr lang="en-US"/>
          </a:p>
        </p:txBody>
      </p:sp>
      <p:sp>
        <p:nvSpPr>
          <p:cNvPr id="1048651" name="Footer Placeholder 5"/>
          <p:cNvSpPr>
            <a:spLocks noGrp="1"/>
          </p:cNvSpPr>
          <p:nvPr>
            <p:ph type="ftr" sz="quarter" idx="11"/>
          </p:nvPr>
        </p:nvSpPr>
        <p:spPr/>
        <p:txBody>
          <a:bodyPr/>
          <a:lstStyle/>
          <a:p>
            <a:endParaRPr lang="en-US"/>
          </a:p>
        </p:txBody>
      </p:sp>
      <p:sp>
        <p:nvSpPr>
          <p:cNvPr id="1048652" name="Slide Number Placeholder 6"/>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3"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1048654"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55"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56"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57"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58" name="Date Placeholder 6"/>
          <p:cNvSpPr>
            <a:spLocks noGrp="1"/>
          </p:cNvSpPr>
          <p:nvPr>
            <p:ph type="dt" sz="half" idx="10"/>
          </p:nvPr>
        </p:nvSpPr>
        <p:spPr/>
        <p:txBody>
          <a:bodyPr/>
          <a:lstStyle/>
          <a:p>
            <a:fld id="{4795E612-A0DE-4472-8821-FD417FD9B0B9}" type="datetimeFigureOut">
              <a:rPr lang="en-US" smtClean="0"/>
            </a:fld>
            <a:endParaRPr lang="en-US"/>
          </a:p>
        </p:txBody>
      </p:sp>
      <p:sp>
        <p:nvSpPr>
          <p:cNvPr id="1048659" name="Footer Placeholder 7"/>
          <p:cNvSpPr>
            <a:spLocks noGrp="1"/>
          </p:cNvSpPr>
          <p:nvPr>
            <p:ph type="ftr" sz="quarter" idx="11"/>
          </p:nvPr>
        </p:nvSpPr>
        <p:spPr/>
        <p:txBody>
          <a:bodyPr/>
          <a:lstStyle/>
          <a:p>
            <a:endParaRPr lang="en-US"/>
          </a:p>
        </p:txBody>
      </p:sp>
      <p:sp>
        <p:nvSpPr>
          <p:cNvPr id="1048660" name="Slide Number Placeholder 8"/>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8" name="Title 1"/>
          <p:cNvSpPr>
            <a:spLocks noGrp="1"/>
          </p:cNvSpPr>
          <p:nvPr>
            <p:ph type="title"/>
          </p:nvPr>
        </p:nvSpPr>
        <p:spPr/>
        <p:txBody>
          <a:bodyPr/>
          <a:lstStyle/>
          <a:p>
            <a:r>
              <a:rPr lang="en-US"/>
              <a:t>Click to edit Master title style</a:t>
            </a:r>
            <a:endParaRPr lang="en-US" dirty="0"/>
          </a:p>
        </p:txBody>
      </p:sp>
      <p:sp>
        <p:nvSpPr>
          <p:cNvPr id="1048619" name="Date Placeholder 2"/>
          <p:cNvSpPr>
            <a:spLocks noGrp="1"/>
          </p:cNvSpPr>
          <p:nvPr>
            <p:ph type="dt" sz="half" idx="10"/>
          </p:nvPr>
        </p:nvSpPr>
        <p:spPr/>
        <p:txBody>
          <a:bodyPr/>
          <a:lstStyle/>
          <a:p>
            <a:fld id="{4795E612-A0DE-4472-8821-FD417FD9B0B9}" type="datetimeFigureOut">
              <a:rPr lang="en-US" smtClean="0"/>
            </a:fld>
            <a:endParaRPr lang="en-US"/>
          </a:p>
        </p:txBody>
      </p:sp>
      <p:sp>
        <p:nvSpPr>
          <p:cNvPr id="1048620" name="Footer Placeholder 3"/>
          <p:cNvSpPr>
            <a:spLocks noGrp="1"/>
          </p:cNvSpPr>
          <p:nvPr>
            <p:ph type="ftr" sz="quarter" idx="11"/>
          </p:nvPr>
        </p:nvSpPr>
        <p:spPr/>
        <p:txBody>
          <a:bodyPr/>
          <a:lstStyle/>
          <a:p>
            <a:endParaRPr lang="en-US"/>
          </a:p>
        </p:txBody>
      </p:sp>
      <p:sp>
        <p:nvSpPr>
          <p:cNvPr id="1048621" name="Slide Number Placeholder 4"/>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61" name="Date Placeholder 1"/>
          <p:cNvSpPr>
            <a:spLocks noGrp="1"/>
          </p:cNvSpPr>
          <p:nvPr>
            <p:ph type="dt" sz="half" idx="10"/>
          </p:nvPr>
        </p:nvSpPr>
        <p:spPr/>
        <p:txBody>
          <a:bodyPr/>
          <a:lstStyle/>
          <a:p>
            <a:fld id="{4795E612-A0DE-4472-8821-FD417FD9B0B9}" type="datetimeFigureOut">
              <a:rPr lang="en-US" smtClean="0"/>
            </a:fld>
            <a:endParaRPr lang="en-US"/>
          </a:p>
        </p:txBody>
      </p:sp>
      <p:sp>
        <p:nvSpPr>
          <p:cNvPr id="1048662" name="Footer Placeholder 2"/>
          <p:cNvSpPr>
            <a:spLocks noGrp="1"/>
          </p:cNvSpPr>
          <p:nvPr>
            <p:ph type="ftr" sz="quarter" idx="11"/>
          </p:nvPr>
        </p:nvSpPr>
        <p:spPr/>
        <p:txBody>
          <a:bodyPr/>
          <a:lstStyle/>
          <a:p>
            <a:endParaRPr lang="en-US"/>
          </a:p>
        </p:txBody>
      </p:sp>
      <p:sp>
        <p:nvSpPr>
          <p:cNvPr id="1048663" name="Slide Number Placeholder 3"/>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1048665"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66"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1048667" name="Date Placeholder 4"/>
          <p:cNvSpPr>
            <a:spLocks noGrp="1"/>
          </p:cNvSpPr>
          <p:nvPr>
            <p:ph type="dt" sz="half" idx="10"/>
          </p:nvPr>
        </p:nvSpPr>
        <p:spPr/>
        <p:txBody>
          <a:bodyPr/>
          <a:lstStyle/>
          <a:p>
            <a:fld id="{4795E612-A0DE-4472-8821-FD417FD9B0B9}" type="datetimeFigureOut">
              <a:rPr lang="en-US" smtClean="0"/>
            </a:fld>
            <a:endParaRPr lang="en-US"/>
          </a:p>
        </p:txBody>
      </p:sp>
      <p:sp>
        <p:nvSpPr>
          <p:cNvPr id="1048668" name="Footer Placeholder 5"/>
          <p:cNvSpPr>
            <a:spLocks noGrp="1"/>
          </p:cNvSpPr>
          <p:nvPr>
            <p:ph type="ftr" sz="quarter" idx="11"/>
          </p:nvPr>
        </p:nvSpPr>
        <p:spPr/>
        <p:txBody>
          <a:bodyPr/>
          <a:lstStyle/>
          <a:p>
            <a:endParaRPr lang="en-US"/>
          </a:p>
        </p:txBody>
      </p:sp>
      <p:sp>
        <p:nvSpPr>
          <p:cNvPr id="1048669" name="Slide Number Placeholder 6"/>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31"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1048632"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633"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1048634" name="Date Placeholder 4"/>
          <p:cNvSpPr>
            <a:spLocks noGrp="1"/>
          </p:cNvSpPr>
          <p:nvPr>
            <p:ph type="dt" sz="half" idx="10"/>
          </p:nvPr>
        </p:nvSpPr>
        <p:spPr/>
        <p:txBody>
          <a:bodyPr/>
          <a:lstStyle/>
          <a:p>
            <a:fld id="{4795E612-A0DE-4472-8821-FD417FD9B0B9}" type="datetimeFigureOut">
              <a:rPr lang="en-US" smtClean="0"/>
            </a:fld>
            <a:endParaRPr lang="en-US"/>
          </a:p>
        </p:txBody>
      </p:sp>
      <p:sp>
        <p:nvSpPr>
          <p:cNvPr id="1048635" name="Footer Placeholder 5"/>
          <p:cNvSpPr>
            <a:spLocks noGrp="1"/>
          </p:cNvSpPr>
          <p:nvPr>
            <p:ph type="ftr" sz="quarter" idx="11"/>
          </p:nvPr>
        </p:nvSpPr>
        <p:spPr/>
        <p:txBody>
          <a:bodyPr/>
          <a:lstStyle/>
          <a:p>
            <a:endParaRPr lang="en-US"/>
          </a:p>
        </p:txBody>
      </p:sp>
      <p:sp>
        <p:nvSpPr>
          <p:cNvPr id="1048636" name="Slide Number Placeholder 6"/>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r>
              <a:rPr lang="en-US"/>
              <a:t>Click to edit Master title style</a:t>
            </a:r>
            <a:endParaRPr lang="en-US" dirty="0"/>
          </a:p>
        </p:txBody>
      </p:sp>
      <p:sp>
        <p:nvSpPr>
          <p:cNvPr id="1048638"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39" name="Date Placeholder 3"/>
          <p:cNvSpPr>
            <a:spLocks noGrp="1"/>
          </p:cNvSpPr>
          <p:nvPr>
            <p:ph type="dt" sz="half" idx="10"/>
          </p:nvPr>
        </p:nvSpPr>
        <p:spPr/>
        <p:txBody>
          <a:bodyPr/>
          <a:lstStyle/>
          <a:p>
            <a:fld id="{4795E612-A0DE-4472-8821-FD417FD9B0B9}" type="datetimeFigureOut">
              <a:rPr lang="en-US" smtClean="0"/>
            </a:fld>
            <a:endParaRPr lang="en-US"/>
          </a:p>
        </p:txBody>
      </p:sp>
      <p:sp>
        <p:nvSpPr>
          <p:cNvPr id="1048640" name="Footer Placeholder 4"/>
          <p:cNvSpPr>
            <a:spLocks noGrp="1"/>
          </p:cNvSpPr>
          <p:nvPr>
            <p:ph type="ftr" sz="quarter" idx="11"/>
          </p:nvPr>
        </p:nvSpPr>
        <p:spPr/>
        <p:txBody>
          <a:bodyPr/>
          <a:lstStyle/>
          <a:p>
            <a:endParaRPr lang="en-US"/>
          </a:p>
        </p:txBody>
      </p:sp>
      <p:sp>
        <p:nvSpPr>
          <p:cNvPr id="1048641" name="Slide Number Placeholder 5"/>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104862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24" name="Date Placeholder 3"/>
          <p:cNvSpPr>
            <a:spLocks noGrp="1"/>
          </p:cNvSpPr>
          <p:nvPr>
            <p:ph type="dt" sz="half" idx="10"/>
          </p:nvPr>
        </p:nvSpPr>
        <p:spPr/>
        <p:txBody>
          <a:bodyPr/>
          <a:lstStyle/>
          <a:p>
            <a:fld id="{4795E612-A0DE-4472-8821-FD417FD9B0B9}" type="datetimeFigureOut">
              <a:rPr lang="en-US" smtClean="0"/>
            </a:fld>
            <a:endParaRPr lang="en-US"/>
          </a:p>
        </p:txBody>
      </p:sp>
      <p:sp>
        <p:nvSpPr>
          <p:cNvPr id="1048625" name="Footer Placeholder 4"/>
          <p:cNvSpPr>
            <a:spLocks noGrp="1"/>
          </p:cNvSpPr>
          <p:nvPr>
            <p:ph type="ftr" sz="quarter" idx="11"/>
          </p:nvPr>
        </p:nvSpPr>
        <p:spPr/>
        <p:txBody>
          <a:bodyPr/>
          <a:lstStyle/>
          <a:p>
            <a:endParaRPr lang="en-US"/>
          </a:p>
        </p:txBody>
      </p:sp>
      <p:sp>
        <p:nvSpPr>
          <p:cNvPr id="1048626" name="Slide Number Placeholder 5"/>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048582" name="Date Placeholder 3"/>
          <p:cNvSpPr>
            <a:spLocks noGrp="1"/>
          </p:cNvSpPr>
          <p:nvPr>
            <p:ph type="dt" sz="half" idx="10"/>
          </p:nvPr>
        </p:nvSpPr>
        <p:spPr/>
        <p:txBody>
          <a:bodyPr/>
          <a:lstStyle/>
          <a:p>
            <a:fld id="{4795E612-A0DE-4472-8821-FD417FD9B0B9}" type="datetimeFigureOut">
              <a:rPr lang="en-US" smtClean="0"/>
            </a:fld>
            <a:endParaRPr lang="en-US"/>
          </a:p>
        </p:txBody>
      </p:sp>
      <p:sp>
        <p:nvSpPr>
          <p:cNvPr id="1048583" name="Footer Placeholder 4"/>
          <p:cNvSpPr>
            <a:spLocks noGrp="1"/>
          </p:cNvSpPr>
          <p:nvPr>
            <p:ph type="ftr" sz="quarter" idx="11"/>
          </p:nvPr>
        </p:nvSpPr>
        <p:spPr/>
        <p:txBody>
          <a:bodyPr/>
          <a:lstStyle/>
          <a:p>
            <a:endParaRPr lang="en-US"/>
          </a:p>
        </p:txBody>
      </p:sp>
      <p:sp>
        <p:nvSpPr>
          <p:cNvPr id="1048584" name="Slide Number Placeholder 5"/>
          <p:cNvSpPr>
            <a:spLocks noGrp="1"/>
          </p:cNvSpPr>
          <p:nvPr>
            <p:ph type="sldNum" sz="quarter" idx="12"/>
          </p:nvPr>
        </p:nvSpPr>
        <p:spPr/>
        <p:txBody>
          <a:bodyPr/>
          <a:lstStyle/>
          <a:p>
            <a:fld id="{06B527F4-FB77-4950-8E80-34B52BECEF05}" type="slidenum">
              <a:rPr lang="en-US" smtClean="0"/>
            </a:fld>
            <a:endParaRPr lang="en-US"/>
          </a:p>
        </p:txBody>
      </p:sp>
      <p:sp>
        <p:nvSpPr>
          <p:cNvPr id="1048585" name="Title Placeholder 1"/>
          <p:cNvSpPr>
            <a:spLocks noGrp="1"/>
          </p:cNvSpPr>
          <p:nvPr>
            <p:ph type="title" hasCustomPrompt="1"/>
          </p:nvPr>
        </p:nvSpPr>
        <p:spPr>
          <a:xfrm>
            <a:off x="10866" y="1"/>
            <a:ext cx="8931966" cy="853695"/>
          </a:xfrm>
          <a:prstGeom prst="rect">
            <a:avLst/>
          </a:prstGeom>
        </p:spPr>
        <p:txBody>
          <a:bodyPr vert="horz" lIns="91440" tIns="45720" rIns="91440" bIns="45720" rtlCol="0" anchor="ctr">
            <a:normAutofit/>
          </a:bodyPr>
          <a:lstStyle>
            <a:lvl1pPr>
              <a:defRPr>
                <a:solidFill>
                  <a:srgbClr val="0000CC"/>
                </a:solidFill>
              </a:defRPr>
            </a:lvl1pPr>
          </a:lstStyle>
          <a:p>
            <a:r>
              <a:rPr lang="en-US" dirty="0"/>
              <a:t>R</a:t>
            </a:r>
            <a:endParaRPr lang="en-US" dirty="0"/>
          </a:p>
        </p:txBody>
      </p:sp>
      <p:sp>
        <p:nvSpPr>
          <p:cNvPr id="1048586" name="Rectangle 10"/>
          <p:cNvSpPr/>
          <p:nvPr userDrawn="1"/>
        </p:nvSpPr>
        <p:spPr>
          <a:xfrm>
            <a:off x="-1" y="844830"/>
            <a:ext cx="8979408" cy="128016"/>
          </a:xfrm>
          <a:prstGeom prst="rect">
            <a:avLst/>
          </a:prstGeom>
          <a:solidFill>
            <a:srgbClr val="003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latin typeface="Cambria" panose="02040503050406030204" pitchFamily="18" charset="0"/>
            </a:endParaRPr>
          </a:p>
        </p:txBody>
      </p:sp>
      <p:sp>
        <p:nvSpPr>
          <p:cNvPr id="1048587" name="Content Placeholder 2"/>
          <p:cNvSpPr>
            <a:spLocks noGrp="1"/>
          </p:cNvSpPr>
          <p:nvPr>
            <p:ph idx="1" hasCustomPrompt="1"/>
          </p:nvPr>
        </p:nvSpPr>
        <p:spPr>
          <a:xfrm>
            <a:off x="0" y="967409"/>
            <a:ext cx="12192000" cy="5499652"/>
          </a:xfrm>
          <a:prstGeom prst="rect">
            <a:avLst/>
          </a:prstGeom>
        </p:spPr>
        <p:txBody>
          <a:bodyPr/>
          <a:lstStyle>
            <a:lvl1pPr>
              <a:defRPr sz="2600" b="0">
                <a:latin typeface="Times New Roman" panose="02020603050405020304" pitchFamily="18" charset="0"/>
                <a:cs typeface="Times New Roman" panose="02020603050405020304" pitchFamily="18" charset="0"/>
              </a:defRPr>
            </a:lvl1pPr>
            <a:lvl2pPr>
              <a:defRPr b="0">
                <a:latin typeface="Times New Roman" panose="02020603050405020304" pitchFamily="18" charset="0"/>
                <a:cs typeface="Times New Roman" panose="02020603050405020304" pitchFamily="18" charset="0"/>
              </a:defRPr>
            </a:lvl2pPr>
          </a:lstStyle>
          <a:p>
            <a:pPr lvl="0"/>
            <a:r>
              <a:rPr lang="en-US" dirty="0" err="1"/>
              <a:t>Kmu</a:t>
            </a:r>
            <a:endParaRPr lang="en-US" dirty="0"/>
          </a:p>
          <a:p>
            <a:pPr lvl="1"/>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1" y="-7949"/>
            <a:ext cx="8931967" cy="847216"/>
          </a:xfrm>
          <a:prstGeom prst="rect">
            <a:avLst/>
          </a:prstGeom>
        </p:spPr>
        <p:txBody>
          <a:bodyPr vert="horz" lIns="91440" tIns="45720" rIns="91440" bIns="45720" rtlCol="0" anchor="ctr">
            <a:normAutofit/>
          </a:bodyPr>
          <a:lstStyle/>
          <a:p>
            <a:endParaRPr lang="en-US" dirty="0"/>
          </a:p>
        </p:txBody>
      </p:sp>
      <p:sp>
        <p:nvSpPr>
          <p:cNvPr id="1048577"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95E612-A0DE-4472-8821-FD417FD9B0B9}" type="datetimeFigureOut">
              <a:rPr lang="en-US" smtClean="0"/>
            </a:fld>
            <a:endParaRPr lang="en-US"/>
          </a:p>
        </p:txBody>
      </p:sp>
      <p:sp>
        <p:nvSpPr>
          <p:cNvPr id="1048578"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7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B527F4-FB77-4950-8E80-34B52BECEF05}" type="slidenum">
              <a:rPr lang="en-US" smtClean="0"/>
            </a:fld>
            <a:endParaRPr lang="en-US"/>
          </a:p>
        </p:txBody>
      </p:sp>
      <p:sp>
        <p:nvSpPr>
          <p:cNvPr id="1048580" name="Content Placeholder 2"/>
          <p:cNvSpPr txBox="1"/>
          <p:nvPr userDrawn="1"/>
        </p:nvSpPr>
        <p:spPr>
          <a:xfrm>
            <a:off x="40562" y="955745"/>
            <a:ext cx="12192000" cy="5513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a:p>
            <a:pPr marL="514350" indent="-514350">
              <a:buFont typeface="Arial" panose="020B0604020202020204" pitchFamily="34" charset="0"/>
              <a:buNone/>
            </a:pPr>
            <a:endParaRPr lang="en-US" sz="2400" dirty="0">
              <a:ln w="3175">
                <a:solidFill>
                  <a:schemeClr val="tx1"/>
                </a:solidFill>
              </a:ln>
            </a:endParaRPr>
          </a:p>
        </p:txBody>
      </p:sp>
      <p:sp>
        <p:nvSpPr>
          <p:cNvPr id="1048581" name="Rectangle 9"/>
          <p:cNvSpPr/>
          <p:nvPr userDrawn="1"/>
        </p:nvSpPr>
        <p:spPr>
          <a:xfrm>
            <a:off x="-1" y="844830"/>
            <a:ext cx="8979408" cy="128016"/>
          </a:xfrm>
          <a:prstGeom prst="rect">
            <a:avLst/>
          </a:prstGeom>
          <a:solidFill>
            <a:srgbClr val="003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latin typeface="Cambria" panose="02040503050406030204" pitchFamily="18" charset="0"/>
            </a:endParaRPr>
          </a:p>
        </p:txBody>
      </p:sp>
      <p:pic>
        <p:nvPicPr>
          <p:cNvPr id="2097152" name="Picture 10"/>
          <p:cNvPicPr>
            <a:picLocks noChangeAspect="1"/>
          </p:cNvPicPr>
          <p:nvPr userDrawn="1"/>
        </p:nvPicPr>
        <p:blipFill>
          <a:blip r:embed="rId13"/>
          <a:stretch>
            <a:fillRect/>
          </a:stretch>
        </p:blipFill>
        <p:spPr>
          <a:xfrm>
            <a:off x="8805755" y="0"/>
            <a:ext cx="3386245" cy="97284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chart" Target="../charts/char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itle 1"/>
          <p:cNvSpPr txBox="1"/>
          <p:nvPr/>
        </p:nvSpPr>
        <p:spPr>
          <a:xfrm>
            <a:off x="-464091" y="1312606"/>
            <a:ext cx="13473953" cy="16076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0000CC"/>
                </a:solidFill>
                <a:latin typeface="Times New Roman" panose="02020603050405020304" pitchFamily="18" charset="0"/>
                <a:ea typeface="+mj-ea"/>
                <a:cs typeface="Times New Roman" panose="02020603050405020304" pitchFamily="18" charset="0"/>
              </a:defRPr>
            </a:lvl1pPr>
          </a:lstStyle>
          <a:p>
            <a:pPr algn="ctr"/>
            <a:r>
              <a:rPr lang="en-US" sz="2800" dirty="0"/>
              <a:t>BFL-IoT: A Blockchain-Enabled Federated Learning Model for Secure and</a:t>
            </a:r>
            <a:br>
              <a:rPr lang="en-US" sz="2800" dirty="0"/>
            </a:br>
            <a:r>
              <a:rPr lang="en-US" sz="2800" dirty="0"/>
              <a:t>Efficient Data Transmission in IoT Networks</a:t>
            </a:r>
            <a:endParaRPr lang="en-IN" sz="2800" dirty="0"/>
          </a:p>
        </p:txBody>
      </p:sp>
      <p:sp>
        <p:nvSpPr>
          <p:cNvPr id="1048589" name="Title 1"/>
          <p:cNvSpPr>
            <a:spLocks noGrp="1"/>
          </p:cNvSpPr>
          <p:nvPr>
            <p:ph type="title"/>
          </p:nvPr>
        </p:nvSpPr>
        <p:spPr>
          <a:xfrm>
            <a:off x="10866" y="1"/>
            <a:ext cx="8931966" cy="1312605"/>
          </a:xfrm>
          <a:solidFill>
            <a:schemeClr val="bg1"/>
          </a:solidFill>
        </p:spPr>
        <p:txBody>
          <a:bodyPr/>
          <a:lstStyle/>
          <a:p>
            <a:r>
              <a:rPr lang="en-IN" dirty="0">
                <a:solidFill>
                  <a:schemeClr val="bg1"/>
                </a:solidFill>
              </a:rPr>
              <a:t>Platforms</a:t>
            </a:r>
            <a:endParaRPr lang="en-IN" dirty="0">
              <a:solidFill>
                <a:schemeClr val="bg1"/>
              </a:solidFill>
            </a:endParaRPr>
          </a:p>
        </p:txBody>
      </p:sp>
      <p:sp>
        <p:nvSpPr>
          <p:cNvPr id="1048590" name="TextBox 9"/>
          <p:cNvSpPr txBox="1"/>
          <p:nvPr/>
        </p:nvSpPr>
        <p:spPr>
          <a:xfrm>
            <a:off x="191167" y="4786019"/>
            <a:ext cx="5346440" cy="1477328"/>
          </a:xfrm>
          <a:prstGeom prst="rect">
            <a:avLst/>
          </a:prstGeom>
          <a:noFill/>
        </p:spPr>
        <p:txBody>
          <a:bodyPr wrap="square" rtlCol="0">
            <a:spAutoFit/>
          </a:bodyPr>
          <a:lstStyle/>
          <a:p>
            <a:pPr>
              <a:lnSpc>
                <a:spcPct val="150000"/>
              </a:lnSpc>
            </a:pPr>
            <a:endParaRPr lang="en-IN" sz="2000" b="1" u="sng" dirty="0">
              <a:latin typeface="Times New Roman" panose="02020603050405020304" pitchFamily="18" charset="0"/>
              <a:cs typeface="Times New Roman" panose="02020603050405020304" pitchFamily="18" charset="0"/>
            </a:endParaRPr>
          </a:p>
          <a:p>
            <a:pPr>
              <a:lnSpc>
                <a:spcPct val="150000"/>
              </a:lnSpc>
            </a:pPr>
            <a:r>
              <a:rPr lang="en-IN" sz="2000" b="1" u="sng" dirty="0">
                <a:solidFill>
                  <a:srgbClr val="0000CC"/>
                </a:solidFill>
                <a:latin typeface="Times New Roman" panose="02020603050405020304" pitchFamily="18" charset="0"/>
                <a:cs typeface="Times New Roman" panose="02020603050405020304" pitchFamily="18" charset="0"/>
              </a:rPr>
              <a:t>GROUP MEMBER:</a:t>
            </a:r>
            <a:endParaRPr lang="en-IN" sz="2000" b="1" u="sng" dirty="0">
              <a:solidFill>
                <a:srgbClr val="0000CC"/>
              </a:solidFill>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PRAKADEESH B S</a:t>
            </a:r>
            <a:r>
              <a:rPr lang="en-IN" sz="2000" b="1" dirty="0">
                <a:latin typeface="Times New Roman" panose="02020603050405020304" pitchFamily="18" charset="0"/>
                <a:cs typeface="Times New Roman" panose="02020603050405020304" pitchFamily="18" charset="0"/>
              </a:rPr>
              <a:t>  -  225003</a:t>
            </a:r>
            <a:r>
              <a:rPr lang="en-US" altLang="en-GB" sz="2000" b="1" dirty="0">
                <a:latin typeface="Times New Roman" panose="02020603050405020304" pitchFamily="18" charset="0"/>
                <a:cs typeface="Times New Roman" panose="02020603050405020304" pitchFamily="18" charset="0"/>
              </a:rPr>
              <a:t>104</a:t>
            </a:r>
            <a:endParaRPr lang="zh-CN" altLang="en-US" b="1" dirty="0">
              <a:latin typeface="Times New Roman" panose="02020603050405020304" pitchFamily="18" charset="0"/>
              <a:cs typeface="Times New Roman" panose="02020603050405020304" pitchFamily="18" charset="0"/>
            </a:endParaRPr>
          </a:p>
        </p:txBody>
      </p:sp>
      <p:sp>
        <p:nvSpPr>
          <p:cNvPr id="1048591" name="TextBox 10"/>
          <p:cNvSpPr txBox="1"/>
          <p:nvPr/>
        </p:nvSpPr>
        <p:spPr>
          <a:xfrm>
            <a:off x="7015315" y="5110484"/>
            <a:ext cx="5176685" cy="1939290"/>
          </a:xfrm>
          <a:prstGeom prst="rect">
            <a:avLst/>
          </a:prstGeom>
          <a:noFill/>
        </p:spPr>
        <p:txBody>
          <a:bodyPr wrap="square" rtlCol="0">
            <a:spAutoFit/>
          </a:bodyPr>
          <a:lstStyle/>
          <a:p>
            <a:pPr algn="l">
              <a:lnSpc>
                <a:spcPct val="150000"/>
              </a:lnSpc>
            </a:pPr>
            <a:r>
              <a:rPr lang="en-IN" sz="2000" b="1" u="sng" dirty="0">
                <a:solidFill>
                  <a:srgbClr val="0000CC"/>
                </a:solidFill>
                <a:latin typeface="Times New Roman" panose="02020603050405020304" pitchFamily="18" charset="0"/>
                <a:cs typeface="Times New Roman" panose="02020603050405020304" pitchFamily="18" charset="0"/>
              </a:rPr>
              <a:t>GUIDE DETAILS :</a:t>
            </a:r>
            <a:endParaRPr lang="en-IN" sz="2000" b="1" u="sng" dirty="0">
              <a:solidFill>
                <a:srgbClr val="0000CC"/>
              </a:solidFill>
              <a:latin typeface="Times New Roman" panose="02020603050405020304" pitchFamily="18" charset="0"/>
              <a:cs typeface="Times New Roman" panose="02020603050405020304" pitchFamily="18" charset="0"/>
            </a:endParaRPr>
          </a:p>
          <a:p>
            <a:pPr algn="l">
              <a:lnSpc>
                <a:spcPct val="150000"/>
              </a:lnSpc>
            </a:pPr>
            <a:r>
              <a:rPr lang="en-US" altLang="en-GB" sz="2000" b="1" dirty="0">
                <a:latin typeface="Times New Roman" panose="02020603050405020304" pitchFamily="18" charset="0"/>
                <a:cs typeface="Times New Roman" panose="02020603050405020304" pitchFamily="18" charset="0"/>
              </a:rPr>
              <a:t>Dr. N.RAJESH KUMAR         </a:t>
            </a:r>
            <a:endParaRPr lang="en-IN" altLang="en-GB" b="1" dirty="0">
              <a:latin typeface="Times New Roman" panose="02020603050405020304" pitchFamily="18" charset="0"/>
              <a:cs typeface="Times New Roman" panose="02020603050405020304" pitchFamily="18" charset="0"/>
            </a:endParaRPr>
          </a:p>
          <a:p>
            <a:pPr algn="l">
              <a:lnSpc>
                <a:spcPct val="150000"/>
              </a:lnSpc>
            </a:pPr>
            <a:r>
              <a:rPr lang="en-US" b="1" dirty="0">
                <a:latin typeface="Times New Roman" panose="02020603050405020304" pitchFamily="18" charset="0"/>
                <a:cs typeface="Times New Roman" panose="02020603050405020304" pitchFamily="18" charset="0"/>
              </a:rPr>
              <a:t>Assistant Professor</a:t>
            </a:r>
            <a:endParaRPr lang="en-IN" b="1" dirty="0">
              <a:latin typeface="Times New Roman" panose="02020603050405020304" pitchFamily="18" charset="0"/>
              <a:cs typeface="Times New Roman" panose="02020603050405020304" pitchFamily="18" charset="0"/>
            </a:endParaRPr>
          </a:p>
          <a:p>
            <a:pPr algn="l"/>
            <a:r>
              <a:rPr lang="en-US" b="1" dirty="0">
                <a:latin typeface="Times New Roman" panose="02020603050405020304" pitchFamily="18" charset="0"/>
                <a:cs typeface="Times New Roman" panose="02020603050405020304" pitchFamily="18" charset="0"/>
              </a:rPr>
              <a:t>Department of Computer Science and Engineering </a:t>
            </a:r>
            <a:endParaRPr lang="en-IN" b="1" dirty="0">
              <a:latin typeface="Times New Roman" panose="02020603050405020304" pitchFamily="18" charset="0"/>
              <a:cs typeface="Times New Roman" panose="02020603050405020304" pitchFamily="18" charset="0"/>
            </a:endParaRPr>
          </a:p>
        </p:txBody>
      </p:sp>
      <p:sp>
        <p:nvSpPr>
          <p:cNvPr id="3" name="Text Box 0"/>
          <p:cNvSpPr txBox="1"/>
          <p:nvPr/>
        </p:nvSpPr>
        <p:spPr>
          <a:xfrm>
            <a:off x="191135" y="6263640"/>
            <a:ext cx="4064000" cy="368300"/>
          </a:xfrm>
          <a:prstGeom prst="rect">
            <a:avLst/>
          </a:prstGeom>
          <a:noFill/>
        </p:spPr>
        <p:txBody>
          <a:bodyPr wrap="square" rtlCol="0">
            <a:spAutoFit/>
          </a:bodyPr>
          <a:lstStyle/>
          <a:p>
            <a:r>
              <a:rPr lang="en-IN" altLang="en-US" dirty="0"/>
              <a:t>DATE : 15-05-2025</a:t>
            </a:r>
            <a:endParaRPr lang="en-IN" altLang="en-US" dirty="0"/>
          </a:p>
        </p:txBody>
      </p:sp>
      <p:sp>
        <p:nvSpPr>
          <p:cNvPr id="2" name="Slide Number Placeholder 1"/>
          <p:cNvSpPr>
            <a:spLocks noGrp="1"/>
          </p:cNvSpPr>
          <p:nvPr>
            <p:ph type="sldNum" sz="quarter" idx="12"/>
          </p:nvPr>
        </p:nvSpPr>
        <p:spPr>
          <a:xfrm>
            <a:off x="9448800" y="6492875"/>
            <a:ext cx="2743200" cy="365125"/>
          </a:xfrm>
        </p:spPr>
        <p:txBody>
          <a:bodyPr/>
          <a:lstStyle/>
          <a:p>
            <a:fld id="{06B527F4-FB77-4950-8E80-34B52BECEF05}"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
          <p:cNvSpPr>
            <a:spLocks noGrp="1"/>
          </p:cNvSpPr>
          <p:nvPr>
            <p:ph type="title"/>
          </p:nvPr>
        </p:nvSpPr>
        <p:spPr/>
        <p:txBody>
          <a:bodyPr/>
          <a:lstStyle/>
          <a:p>
            <a:pPr algn="ctr"/>
            <a:r>
              <a:rPr lang="en-IN" dirty="0"/>
              <a:t>BASE PAPER DETAILS</a:t>
            </a:r>
            <a:endParaRPr lang="en-IN" dirty="0"/>
          </a:p>
        </p:txBody>
      </p:sp>
      <p:sp>
        <p:nvSpPr>
          <p:cNvPr id="1048593" name="Content Placeholder 2"/>
          <p:cNvSpPr>
            <a:spLocks noGrp="1"/>
          </p:cNvSpPr>
          <p:nvPr>
            <p:ph idx="1"/>
          </p:nvPr>
        </p:nvSpPr>
        <p:spPr>
          <a:xfrm>
            <a:off x="457200" y="1292772"/>
            <a:ext cx="11734800" cy="5297214"/>
          </a:xfrm>
        </p:spPr>
        <p:txBody>
          <a:bodyPr anchor="t"/>
          <a:lstStyle/>
          <a:p>
            <a:pPr marL="0" indent="0" algn="just">
              <a:buNone/>
            </a:pPr>
            <a:endParaRPr lang="en-IN" dirty="0"/>
          </a:p>
          <a:p>
            <a:pPr marL="0" indent="0" algn="just">
              <a:buNone/>
            </a:pPr>
            <a:endParaRPr lang="en-IN" dirty="0"/>
          </a:p>
          <a:p>
            <a:pPr marL="0" indent="0">
              <a:buNone/>
            </a:pPr>
            <a:r>
              <a:rPr lang="en-IN" altLang="zh-CN" sz="2400" b="1" dirty="0">
                <a:latin typeface="Times New Roman" panose="02020603050405020304" pitchFamily="18" charset="0"/>
                <a:cs typeface="Times New Roman" panose="02020603050405020304" pitchFamily="18" charset="0"/>
              </a:rPr>
              <a:t>A blockchain-orchestrated deep learning approach for secure data transmission in </a:t>
            </a:r>
            <a:endParaRPr lang="en-IN" altLang="zh-CN" sz="2400" b="1" dirty="0">
              <a:latin typeface="Times New Roman" panose="02020603050405020304" pitchFamily="18" charset="0"/>
              <a:cs typeface="Times New Roman" panose="02020603050405020304" pitchFamily="18" charset="0"/>
            </a:endParaRPr>
          </a:p>
          <a:p>
            <a:pPr marL="0" indent="0">
              <a:buNone/>
            </a:pPr>
            <a:r>
              <a:rPr lang="en-IN" altLang="zh-CN" sz="2400" b="1" dirty="0">
                <a:latin typeface="Times New Roman" panose="02020603050405020304" pitchFamily="18" charset="0"/>
                <a:cs typeface="Times New Roman" panose="02020603050405020304" pitchFamily="18" charset="0"/>
              </a:rPr>
              <a:t>IoT-enabled healthcare system</a:t>
            </a:r>
            <a:endParaRPr lang="zh-CN" altLang="en-US" sz="2400" b="1" dirty="0">
              <a:latin typeface="Times New Roman" panose="02020603050405020304" pitchFamily="18" charset="0"/>
              <a:cs typeface="Times New Roman" panose="02020603050405020304" pitchFamily="18" charset="0"/>
            </a:endParaRPr>
          </a:p>
          <a:p>
            <a:endParaRPr lang="en-IN" sz="1800" b="1" i="0" dirty="0">
              <a:solidFill>
                <a:srgbClr val="131413"/>
              </a:solidFill>
              <a:effectLst/>
            </a:endParaRPr>
          </a:p>
          <a:p>
            <a:endParaRPr lang="en-IN" sz="1800" b="1" i="0" u="sng" dirty="0">
              <a:solidFill>
                <a:srgbClr val="131413"/>
              </a:solidFill>
              <a:effectLst/>
            </a:endParaRPr>
          </a:p>
          <a:p>
            <a:pPr marL="0" indent="0">
              <a:buNone/>
            </a:pPr>
            <a:r>
              <a:rPr lang="en-IN" sz="2000" b="1" i="0" u="sng" dirty="0">
                <a:solidFill>
                  <a:schemeClr val="accent1">
                    <a:lumMod val="75000"/>
                  </a:schemeClr>
                </a:solidFill>
                <a:effectLst/>
              </a:rPr>
              <a:t>AUTHOR</a:t>
            </a:r>
            <a:r>
              <a:rPr lang="en-IN" sz="2000" b="1" u="sng" dirty="0">
                <a:solidFill>
                  <a:schemeClr val="accent1">
                    <a:lumMod val="75000"/>
                  </a:schemeClr>
                </a:solidFill>
              </a:rPr>
              <a:t>S</a:t>
            </a:r>
            <a:r>
              <a:rPr lang="en-IN" sz="2000" b="1" i="0" u="sng" dirty="0">
                <a:solidFill>
                  <a:schemeClr val="accent1">
                    <a:lumMod val="75000"/>
                  </a:schemeClr>
                </a:solidFill>
                <a:effectLst/>
              </a:rPr>
              <a:t> :</a:t>
            </a:r>
            <a:endParaRPr lang="en-IN" sz="2000" b="1" i="0" u="sng" dirty="0">
              <a:solidFill>
                <a:schemeClr val="accent1">
                  <a:lumMod val="75000"/>
                </a:schemeClr>
              </a:solidFill>
              <a:effectLst/>
            </a:endParaRPr>
          </a:p>
          <a:p>
            <a:endParaRPr lang="en-IN" sz="1800" b="1" i="0" u="sng" dirty="0">
              <a:solidFill>
                <a:schemeClr val="accent1">
                  <a:lumMod val="75000"/>
                </a:schemeClr>
              </a:solidFill>
              <a:effectLst/>
            </a:endParaRPr>
          </a:p>
          <a:p>
            <a:pPr marL="0" indent="0">
              <a:buNone/>
            </a:pPr>
            <a:r>
              <a:rPr lang="en-IN" sz="2000" b="1" i="0" dirty="0">
                <a:solidFill>
                  <a:srgbClr val="131413"/>
                </a:solidFill>
                <a:effectLst/>
              </a:rPr>
              <a:t>1.Prabhat Kumar</a:t>
            </a:r>
            <a:endParaRPr lang="en-IN" sz="2000" b="1" i="0" dirty="0">
              <a:solidFill>
                <a:srgbClr val="131413"/>
              </a:solidFill>
              <a:effectLst/>
            </a:endParaRPr>
          </a:p>
          <a:p>
            <a:pPr marL="0" indent="0">
              <a:buNone/>
            </a:pPr>
            <a:r>
              <a:rPr lang="en-IN" sz="2000" b="1" dirty="0">
                <a:solidFill>
                  <a:srgbClr val="131413"/>
                </a:solidFill>
              </a:rPr>
              <a:t>2.Randir Kumar</a:t>
            </a:r>
            <a:endParaRPr lang="en-IN" sz="2000" b="1" dirty="0">
              <a:solidFill>
                <a:srgbClr val="131413"/>
              </a:solidFill>
            </a:endParaRPr>
          </a:p>
          <a:p>
            <a:pPr marL="0" indent="0">
              <a:buNone/>
            </a:pPr>
            <a:r>
              <a:rPr lang="en-IN" sz="2000" b="1" i="0" dirty="0">
                <a:solidFill>
                  <a:srgbClr val="131413"/>
                </a:solidFill>
                <a:effectLst/>
              </a:rPr>
              <a:t>3.Govind P. Gupta</a:t>
            </a:r>
            <a:endParaRPr lang="en-IN" sz="2000" b="1" i="0" dirty="0">
              <a:solidFill>
                <a:srgbClr val="131413"/>
              </a:solidFill>
              <a:effectLst/>
            </a:endParaRPr>
          </a:p>
          <a:p>
            <a:pPr marL="0" indent="0">
              <a:buNone/>
            </a:pPr>
            <a:endParaRPr lang="en-IN" sz="2000" b="1" i="0" dirty="0">
              <a:solidFill>
                <a:srgbClr val="131413"/>
              </a:solidFill>
              <a:effectLst/>
            </a:endParaRPr>
          </a:p>
          <a:p>
            <a:pPr marL="0" indent="0">
              <a:buNone/>
            </a:pPr>
            <a:r>
              <a:rPr lang="en-IN" sz="1800" b="1" dirty="0">
                <a:solidFill>
                  <a:srgbClr val="131413"/>
                </a:solidFill>
              </a:rPr>
              <a:t>Year:</a:t>
            </a:r>
            <a:r>
              <a:rPr lang="en-IN" sz="1800" dirty="0">
                <a:solidFill>
                  <a:srgbClr val="131413"/>
                </a:solidFill>
              </a:rPr>
              <a:t> </a:t>
            </a:r>
            <a:r>
              <a:rPr lang="en-US" altLang="en-GB" sz="1800" b="1" dirty="0">
                <a:solidFill>
                  <a:srgbClr val="131413"/>
                </a:solidFill>
              </a:rPr>
              <a:t>2023</a:t>
            </a:r>
            <a:endParaRPr lang="zh-CN" altLang="en-US" sz="1800" b="1" dirty="0"/>
          </a:p>
          <a:p>
            <a:endParaRPr lang="en-IN" sz="1800" b="1" i="0" dirty="0">
              <a:solidFill>
                <a:srgbClr val="131413"/>
              </a:solidFill>
              <a:effectLst/>
            </a:endParaRPr>
          </a:p>
          <a:p>
            <a:pPr marL="0" indent="0" algn="just">
              <a:buNone/>
            </a:pPr>
            <a:endParaRPr lang="en-IN" dirty="0"/>
          </a:p>
          <a:p>
            <a:pPr lvl="1" algn="just"/>
            <a:endParaRPr lang="en-US"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p:txBody>
          <a:bodyPr/>
          <a:lstStyle/>
          <a:p>
            <a:pPr algn="ctr"/>
            <a:r>
              <a:rPr lang="en-IN" dirty="0"/>
              <a:t>ABSTRACT</a:t>
            </a:r>
            <a:endParaRPr lang="en-IN" dirty="0"/>
          </a:p>
        </p:txBody>
      </p:sp>
      <p:sp>
        <p:nvSpPr>
          <p:cNvPr id="1048595" name="Content Placeholder 2"/>
          <p:cNvSpPr>
            <a:spLocks noGrp="1"/>
          </p:cNvSpPr>
          <p:nvPr>
            <p:ph idx="1"/>
          </p:nvPr>
        </p:nvSpPr>
        <p:spPr>
          <a:xfrm>
            <a:off x="0" y="967409"/>
            <a:ext cx="12192000" cy="5228439"/>
          </a:xfrm>
        </p:spPr>
        <p:txBody>
          <a:bodyPr/>
          <a:lstStyle/>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400" dirty="0"/>
              <a:t>	</a:t>
            </a:r>
            <a:r>
              <a:rPr lang="en-US" sz="2400" dirty="0">
                <a:latin typeface="Times New Roman" panose="02020603050405020304" pitchFamily="18" charset="0"/>
                <a:cs typeface="Times New Roman" panose="02020603050405020304" pitchFamily="18" charset="0"/>
              </a:rPr>
              <a:t>The growth of Internet of Things (IoT) networks across industries, it will become increasingly important to ensure that the information transmitted is secure due to the rise in cyber threats and the sensitivity of the information. This project will present a Blockchain-enabled Federated Learning model (BFL-IoT) for secure and efficient data transmission in generic IoT networks. By leveraging the decentralized and tamper-resistant architecture of blockchain along with the privacy-preserving training of federated learning, the proposed model will guarantee secure communication between IoT devices while maintaining data privacy. The BFL-IoT model will decentralize the storage of information, with only encrypted model parameters being shared for collaborative training, thus reducing the risks of unauthorized access. The model will also be capable of detecting and countering different types of cyberattacks in IoT networks with high accuracy, distinguishing between normal and adversarial activities. The model will be tested through experimental evaluations and is expected to outperform traditional approaches in terms of security, scalability, and performance for securing and authenticating IoT data transactions across various applications.</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endParaRPr lang="en-IN" sz="2400"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pPr algn="ctr"/>
            <a:r>
              <a:rPr lang="en-IN" dirty="0"/>
              <a:t>PROBLEM STATEMENT</a:t>
            </a:r>
            <a:endParaRPr lang="en-IN" dirty="0"/>
          </a:p>
        </p:txBody>
      </p:sp>
      <p:sp>
        <p:nvSpPr>
          <p:cNvPr id="1048597" name="Content Placeholder 2"/>
          <p:cNvSpPr>
            <a:spLocks noGrp="1"/>
          </p:cNvSpPr>
          <p:nvPr>
            <p:ph idx="1"/>
          </p:nvPr>
        </p:nvSpPr>
        <p:spPr/>
        <p:txBody>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t>	</a:t>
            </a:r>
            <a:r>
              <a:rPr lang="en-US" sz="2400" dirty="0">
                <a:latin typeface="Times New Roman" panose="02020603050405020304" pitchFamily="18" charset="0"/>
                <a:cs typeface="Times New Roman" panose="02020603050405020304" pitchFamily="18" charset="0"/>
              </a:rPr>
              <a:t>The rapid growth of digital data transmission, confidential information is vulnerable to cyber threats, unauthorized access and data violations. Traditional security approaches face challenges such as centralized risks, scalability problems and high computational costs. Ensuring the privacy and integrity of the data while allowing efficient automatic learning in distributed data is an important challenge. This project aims to develop a safe and decentralized data transmission model using blockchain for the integrity of data and federated learning for privacy prevention. The objective is to improve security, reduce cyber threats and guarantee data transmission without problems and reliable in modern digital environments.</a:t>
            </a:r>
            <a:endParaRPr lang="en-IN" sz="2400" dirty="0">
              <a:latin typeface="Times New Roman" panose="02020603050405020304" pitchFamily="18" charset="0"/>
              <a:cs typeface="Times New Roman" panose="02020603050405020304" pitchFamily="18" charset="0"/>
            </a:endParaRPr>
          </a:p>
          <a:p>
            <a:pPr marL="0" indent="0">
              <a:lnSpc>
                <a:spcPct val="150000"/>
              </a:lnSpc>
              <a:buNone/>
            </a:pPr>
            <a:endParaRPr lang="en-IN" sz="2400"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p:txBody>
          <a:bodyPr/>
          <a:lstStyle/>
          <a:p>
            <a:pPr algn="ctr"/>
            <a:r>
              <a:rPr lang="en-IN" dirty="0"/>
              <a:t>LITERATURE SURVEY</a:t>
            </a:r>
            <a:endParaRPr lang="en-IN" dirty="0"/>
          </a:p>
        </p:txBody>
      </p:sp>
      <p:graphicFrame>
        <p:nvGraphicFramePr>
          <p:cNvPr id="4194304" name="Table 2"/>
          <p:cNvGraphicFramePr>
            <a:graphicFrameLocks noGrp="1"/>
          </p:cNvGraphicFramePr>
          <p:nvPr>
            <p:ph idx="1"/>
          </p:nvPr>
        </p:nvGraphicFramePr>
        <p:xfrm>
          <a:off x="67235" y="1061381"/>
          <a:ext cx="12057529" cy="5585676"/>
        </p:xfrm>
        <a:graphic>
          <a:graphicData uri="http://schemas.openxmlformats.org/drawingml/2006/table">
            <a:tbl>
              <a:tblPr firstRow="1" bandRow="1">
                <a:tableStyleId>{5C22544A-7EE6-4342-B048-85BDC9FD1C3A}</a:tableStyleId>
              </a:tblPr>
              <a:tblGrid>
                <a:gridCol w="764720"/>
                <a:gridCol w="2433476"/>
                <a:gridCol w="1969316"/>
                <a:gridCol w="1166053"/>
                <a:gridCol w="1315453"/>
                <a:gridCol w="2310063"/>
                <a:gridCol w="2098448"/>
              </a:tblGrid>
              <a:tr h="600554">
                <a:tc>
                  <a:txBody>
                    <a:bodyPr/>
                    <a:lstStyle/>
                    <a:p>
                      <a:r>
                        <a:rPr lang="en-IN" dirty="0"/>
                        <a:t>S.NO</a:t>
                      </a:r>
                      <a:endParaRPr lang="en-IN" dirty="0"/>
                    </a:p>
                  </a:txBody>
                  <a:tcPr/>
                </a:tc>
                <a:tc>
                  <a:txBody>
                    <a:bodyPr/>
                    <a:lstStyle/>
                    <a:p>
                      <a:pPr algn="ctr"/>
                      <a:r>
                        <a:rPr lang="en-IN" dirty="0"/>
                        <a:t>TITLE</a:t>
                      </a:r>
                      <a:endParaRPr lang="en-IN" dirty="0"/>
                    </a:p>
                  </a:txBody>
                  <a:tcPr/>
                </a:tc>
                <a:tc>
                  <a:txBody>
                    <a:bodyPr/>
                    <a:lstStyle/>
                    <a:p>
                      <a:pPr algn="ctr"/>
                      <a:r>
                        <a:rPr lang="en-IN" dirty="0"/>
                        <a:t>AUTHOR</a:t>
                      </a:r>
                      <a:endParaRPr lang="en-IN" dirty="0"/>
                    </a:p>
                  </a:txBody>
                  <a:tcPr/>
                </a:tc>
                <a:tc>
                  <a:txBody>
                    <a:bodyPr/>
                    <a:lstStyle/>
                    <a:p>
                      <a:pPr algn="ctr"/>
                      <a:r>
                        <a:rPr lang="en-IN" dirty="0"/>
                        <a:t>ACCEPTED DATE</a:t>
                      </a:r>
                      <a:endParaRPr lang="en-IN" dirty="0"/>
                    </a:p>
                  </a:txBody>
                  <a:tcPr/>
                </a:tc>
                <a:tc>
                  <a:txBody>
                    <a:bodyPr/>
                    <a:lstStyle/>
                    <a:p>
                      <a:pPr algn="ctr"/>
                      <a:r>
                        <a:rPr lang="en-IN" dirty="0"/>
                        <a:t>MODEL</a:t>
                      </a:r>
                      <a:endParaRPr lang="en-IN" dirty="0"/>
                    </a:p>
                  </a:txBody>
                  <a:tcPr/>
                </a:tc>
                <a:tc>
                  <a:txBody>
                    <a:bodyPr/>
                    <a:lstStyle/>
                    <a:p>
                      <a:pPr algn="ctr"/>
                      <a:r>
                        <a:rPr lang="en-IN" dirty="0"/>
                        <a:t>MERITS</a:t>
                      </a:r>
                      <a:endParaRPr lang="en-IN" dirty="0"/>
                    </a:p>
                  </a:txBody>
                  <a:tcPr/>
                </a:tc>
                <a:tc>
                  <a:txBody>
                    <a:bodyPr/>
                    <a:lstStyle/>
                    <a:p>
                      <a:pPr algn="ctr"/>
                      <a:r>
                        <a:rPr lang="en-IN" dirty="0"/>
                        <a:t>DEMERITS</a:t>
                      </a:r>
                      <a:endParaRPr lang="en-IN" dirty="0"/>
                    </a:p>
                  </a:txBody>
                  <a:tcPr/>
                </a:tc>
              </a:tr>
              <a:tr h="2659596">
                <a:tc>
                  <a:txBody>
                    <a:bodyPr/>
                    <a:lstStyle/>
                    <a:p>
                      <a:r>
                        <a:rPr lang="en-IN" dirty="0"/>
                        <a:t>1</a:t>
                      </a:r>
                      <a:endParaRPr lang="en-IN" dirty="0"/>
                    </a:p>
                  </a:txBody>
                  <a:tcPr/>
                </a:tc>
                <a:tc>
                  <a:txBody>
                    <a:bodyPr/>
                    <a:lstStyle/>
                    <a:p>
                      <a:r>
                        <a:rPr lang="en-US" dirty="0"/>
                        <a:t>Attack and Anomaly Detection in IoT Sensors Using Machine Learning Approaches</a:t>
                      </a:r>
                      <a:endParaRPr lang="en-IN" dirty="0"/>
                    </a:p>
                  </a:txBody>
                  <a:tcPr/>
                </a:tc>
                <a:tc>
                  <a:txBody>
                    <a:bodyPr/>
                    <a:lstStyle/>
                    <a:p>
                      <a:r>
                        <a:rPr lang="en-IN" dirty="0"/>
                        <a:t>Mahmudul Hasan, Md. Milon Islam, Md Ishrak Islam Zarif, M.M.A. Hashem</a:t>
                      </a:r>
                      <a:endParaRPr lang="en-IN" dirty="0"/>
                    </a:p>
                  </a:txBody>
                  <a:tcPr/>
                </a:tc>
                <a:tc>
                  <a:txBody>
                    <a:bodyPr/>
                    <a:lstStyle/>
                    <a:p>
                      <a:r>
                        <a:rPr lang="en-IN" dirty="0"/>
                        <a:t>11 May 2019</a:t>
                      </a:r>
                      <a:endParaRPr lang="en-IN" dirty="0"/>
                    </a:p>
                  </a:txBody>
                  <a:tcPr/>
                </a:tc>
                <a:tc>
                  <a:txBody>
                    <a:bodyPr/>
                    <a:lstStyle/>
                    <a:p>
                      <a:r>
                        <a:rPr lang="en-US" dirty="0"/>
                        <a:t>Logistic Regression, SVM, Decision Tree, Random Forest, ANN</a:t>
                      </a:r>
                      <a:endParaRPr lang="en-IN" dirty="0"/>
                    </a:p>
                  </a:txBody>
                  <a:tcPr/>
                </a:tc>
                <a:tc>
                  <a:txBody>
                    <a:bodyPr/>
                    <a:lstStyle/>
                    <a:p>
                      <a:pPr marL="285750" indent="-285750">
                        <a:buFont typeface="Wingdings" panose="05000000000000000000" pitchFamily="2" charset="2"/>
                        <a:buChar char="§"/>
                      </a:pPr>
                      <a:r>
                        <a:rPr lang="en-US" dirty="0"/>
                        <a:t>Comprehensive comparison across multiple machine learning models</a:t>
                      </a:r>
                      <a:endParaRPr lang="en-US" dirty="0"/>
                    </a:p>
                    <a:p>
                      <a:pPr marL="285750" indent="-285750">
                        <a:buFont typeface="Wingdings" panose="05000000000000000000" pitchFamily="2" charset="2"/>
                        <a:buChar char="§"/>
                      </a:pPr>
                      <a:r>
                        <a:rPr lang="en-US" dirty="0"/>
                        <a:t>High performance in detecting both known and unknown threats</a:t>
                      </a:r>
                      <a:endParaRPr lang="en-IN" dirty="0"/>
                    </a:p>
                  </a:txBody>
                  <a:tcPr/>
                </a:tc>
                <a:tc>
                  <a:txBody>
                    <a:bodyPr/>
                    <a:lstStyle/>
                    <a:p>
                      <a:pPr marL="285750" indent="-285750">
                        <a:buFont typeface="Wingdings" panose="05000000000000000000" pitchFamily="2" charset="2"/>
                        <a:buChar char="§"/>
                      </a:pPr>
                      <a:r>
                        <a:rPr lang="en-US" dirty="0"/>
                        <a:t>Signature-based methods fail to detect zero-day attacks</a:t>
                      </a:r>
                      <a:endParaRPr lang="en-US" dirty="0"/>
                    </a:p>
                    <a:p>
                      <a:pPr marL="285750" indent="-285750">
                        <a:buFont typeface="Wingdings" panose="05000000000000000000" pitchFamily="2" charset="2"/>
                        <a:buChar char="§"/>
                      </a:pPr>
                      <a:r>
                        <a:rPr lang="en-US" dirty="0"/>
                        <a:t>High resource consumption for training complex models like ANN</a:t>
                      </a:r>
                      <a:endParaRPr lang="en-IN" dirty="0"/>
                    </a:p>
                  </a:txBody>
                  <a:tcPr/>
                </a:tc>
              </a:tr>
              <a:tr h="2268920">
                <a:tc>
                  <a:txBody>
                    <a:bodyPr/>
                    <a:lstStyle/>
                    <a:p>
                      <a:r>
                        <a:rPr lang="en-IN" dirty="0"/>
                        <a:t>2</a:t>
                      </a:r>
                      <a:endParaRPr lang="en-IN" dirty="0"/>
                    </a:p>
                  </a:txBody>
                  <a:tcPr/>
                </a:tc>
                <a:tc>
                  <a:txBody>
                    <a:bodyPr/>
                    <a:lstStyle/>
                    <a:p>
                      <a:r>
                        <a:rPr lang="en-US" dirty="0"/>
                        <a:t> Attack Detection in IoT Using Machine Learning</a:t>
                      </a:r>
                      <a:endParaRPr lang="en-IN" dirty="0"/>
                    </a:p>
                  </a:txBody>
                  <a:tcPr/>
                </a:tc>
                <a:tc>
                  <a:txBody>
                    <a:bodyPr/>
                    <a:lstStyle/>
                    <a:p>
                      <a:r>
                        <a:rPr lang="en-IN" dirty="0"/>
                        <a:t>Maryam </a:t>
                      </a:r>
                      <a:r>
                        <a:rPr lang="en-IN" dirty="0" err="1"/>
                        <a:t>Anwer</a:t>
                      </a:r>
                      <a:r>
                        <a:rPr lang="en-IN" dirty="0"/>
                        <a:t>, Muhammad Umer Farooq, Shariq Mahmood Khan, </a:t>
                      </a:r>
                      <a:r>
                        <a:rPr lang="en-IN" dirty="0" err="1"/>
                        <a:t>Waseemullah</a:t>
                      </a:r>
                      <a:endParaRPr lang="en-IN" dirty="0"/>
                    </a:p>
                  </a:txBody>
                  <a:tcPr/>
                </a:tc>
                <a:tc>
                  <a:txBody>
                    <a:bodyPr/>
                    <a:lstStyle/>
                    <a:p>
                      <a:r>
                        <a:rPr lang="en-IN" dirty="0"/>
                        <a:t>2021</a:t>
                      </a:r>
                      <a:endParaRPr lang="en-IN" dirty="0"/>
                    </a:p>
                  </a:txBody>
                  <a:tcPr/>
                </a:tc>
                <a:tc>
                  <a:txBody>
                    <a:bodyPr/>
                    <a:lstStyle/>
                    <a:p>
                      <a:r>
                        <a:rPr lang="en-US" dirty="0"/>
                        <a:t>Support Vector Machine,</a:t>
                      </a:r>
                      <a:endParaRPr lang="en-US" dirty="0"/>
                    </a:p>
                    <a:p>
                      <a:r>
                        <a:rPr lang="en-US" dirty="0"/>
                        <a:t>GBDT, Random Forest (RF)</a:t>
                      </a:r>
                      <a:endParaRPr lang="en-IN" dirty="0"/>
                    </a:p>
                  </a:txBody>
                  <a:tcPr/>
                </a:tc>
                <a:tc>
                  <a:txBody>
                    <a:bodyPr/>
                    <a:lstStyle/>
                    <a:p>
                      <a:pPr marL="285750" indent="-285750">
                        <a:buFont typeface="Wingdings" panose="05000000000000000000" pitchFamily="2" charset="2"/>
                        <a:buChar char="§"/>
                      </a:pPr>
                      <a:r>
                        <a:rPr lang="en-US" dirty="0"/>
                        <a:t>Uses widely accepted NSL-KDD dataset for benchmarking</a:t>
                      </a:r>
                      <a:endParaRPr lang="en-US" dirty="0"/>
                    </a:p>
                    <a:p>
                      <a:pPr marL="285750" indent="-285750">
                        <a:buFont typeface="Wingdings" panose="05000000000000000000" pitchFamily="2" charset="2"/>
                        <a:buChar char="§"/>
                      </a:pPr>
                      <a:r>
                        <a:rPr lang="en-US" dirty="0"/>
                        <a:t>Covers multiple supervised learning algorithms for comparison</a:t>
                      </a:r>
                      <a:endParaRPr lang="en-IN" dirty="0"/>
                    </a:p>
                  </a:txBody>
                  <a:tcPr/>
                </a:tc>
                <a:tc>
                  <a:txBody>
                    <a:bodyPr/>
                    <a:lstStyle/>
                    <a:p>
                      <a:pPr marL="285750" indent="-285750">
                        <a:buFont typeface="Wingdings" panose="05000000000000000000" pitchFamily="2" charset="2"/>
                        <a:buChar char="§"/>
                      </a:pPr>
                      <a:r>
                        <a:rPr lang="en-IN" dirty="0"/>
                        <a:t>Lack of suitable data sets with proper masked faces and facial recognition</a:t>
                      </a:r>
                      <a:endParaRPr lang="en-IN" dirty="0"/>
                    </a:p>
                    <a:p>
                      <a:pPr marL="285750" indent="-285750">
                        <a:buFont typeface="Wingdings" panose="05000000000000000000" pitchFamily="2" charset="2"/>
                        <a:buChar char="§"/>
                      </a:pPr>
                      <a:r>
                        <a:rPr lang="en-IN" dirty="0"/>
                        <a:t>Presence of masks created noise in data</a:t>
                      </a:r>
                      <a:endParaRPr lang="en-IN" dirty="0"/>
                    </a:p>
                  </a:txBody>
                  <a:tcPr/>
                </a:tc>
              </a:tr>
            </a:tbl>
          </a:graphicData>
        </a:graphic>
      </p:graphicFrame>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5" name="Content Placeholder 3"/>
          <p:cNvGraphicFramePr>
            <a:graphicFrameLocks noGrp="1"/>
          </p:cNvGraphicFramePr>
          <p:nvPr>
            <p:ph idx="1"/>
          </p:nvPr>
        </p:nvGraphicFramePr>
        <p:xfrm>
          <a:off x="53788" y="982554"/>
          <a:ext cx="12138212" cy="5761303"/>
        </p:xfrm>
        <a:graphic>
          <a:graphicData uri="http://schemas.openxmlformats.org/drawingml/2006/table">
            <a:tbl>
              <a:tblPr firstRow="1" bandRow="1">
                <a:tableStyleId>{5C22544A-7EE6-4342-B048-85BDC9FD1C3A}</a:tableStyleId>
              </a:tblPr>
              <a:tblGrid>
                <a:gridCol w="702266"/>
                <a:gridCol w="2509983"/>
                <a:gridCol w="1608964"/>
                <a:gridCol w="1174544"/>
                <a:gridCol w="1570455"/>
                <a:gridCol w="2486526"/>
                <a:gridCol w="2085474"/>
              </a:tblGrid>
              <a:tr h="620001">
                <a:tc>
                  <a:txBody>
                    <a:bodyPr/>
                    <a:lstStyle/>
                    <a:p>
                      <a:r>
                        <a:rPr lang="en-IN" dirty="0"/>
                        <a:t>S.NO</a:t>
                      </a:r>
                      <a:endParaRPr lang="en-IN" dirty="0"/>
                    </a:p>
                  </a:txBody>
                  <a:tcPr/>
                </a:tc>
                <a:tc>
                  <a:txBody>
                    <a:bodyPr/>
                    <a:lstStyle/>
                    <a:p>
                      <a:r>
                        <a:rPr lang="en-IN" dirty="0"/>
                        <a:t>TITLE</a:t>
                      </a:r>
                      <a:endParaRPr lang="en-IN" dirty="0"/>
                    </a:p>
                  </a:txBody>
                  <a:tcPr/>
                </a:tc>
                <a:tc>
                  <a:txBody>
                    <a:bodyPr/>
                    <a:lstStyle/>
                    <a:p>
                      <a:r>
                        <a:rPr lang="en-IN" dirty="0"/>
                        <a:t>AUTHOR</a:t>
                      </a:r>
                      <a:endParaRPr lang="en-IN" dirty="0"/>
                    </a:p>
                  </a:txBody>
                  <a:tcPr/>
                </a:tc>
                <a:tc>
                  <a:txBody>
                    <a:bodyPr/>
                    <a:lstStyle/>
                    <a:p>
                      <a:r>
                        <a:rPr lang="en-IN" dirty="0"/>
                        <a:t>ACCEPTED DATE</a:t>
                      </a:r>
                      <a:endParaRPr lang="en-IN" dirty="0"/>
                    </a:p>
                  </a:txBody>
                  <a:tcPr/>
                </a:tc>
                <a:tc>
                  <a:txBody>
                    <a:bodyPr/>
                    <a:lstStyle/>
                    <a:p>
                      <a:r>
                        <a:rPr lang="en-IN" dirty="0"/>
                        <a:t>MODEL</a:t>
                      </a:r>
                      <a:endParaRPr lang="en-IN" dirty="0"/>
                    </a:p>
                  </a:txBody>
                  <a:tcPr/>
                </a:tc>
                <a:tc>
                  <a:txBody>
                    <a:bodyPr/>
                    <a:lstStyle/>
                    <a:p>
                      <a:r>
                        <a:rPr lang="en-IN" dirty="0"/>
                        <a:t>MERITS</a:t>
                      </a:r>
                      <a:endParaRPr lang="en-IN" dirty="0"/>
                    </a:p>
                  </a:txBody>
                  <a:tcPr/>
                </a:tc>
                <a:tc>
                  <a:txBody>
                    <a:bodyPr/>
                    <a:lstStyle/>
                    <a:p>
                      <a:r>
                        <a:rPr lang="en-IN" dirty="0"/>
                        <a:t>DEMERITS</a:t>
                      </a:r>
                      <a:endParaRPr lang="en-IN" dirty="0"/>
                    </a:p>
                  </a:txBody>
                  <a:tcPr/>
                </a:tc>
              </a:tr>
              <a:tr h="2480002">
                <a:tc>
                  <a:txBody>
                    <a:bodyPr/>
                    <a:lstStyle/>
                    <a:p>
                      <a:r>
                        <a:rPr lang="en-IN" dirty="0"/>
                        <a:t>3</a:t>
                      </a:r>
                      <a:endParaRPr lang="en-IN" dirty="0"/>
                    </a:p>
                  </a:txBody>
                  <a:tcPr/>
                </a:tc>
                <a:tc>
                  <a:txBody>
                    <a:bodyPr/>
                    <a:lstStyle/>
                    <a:p>
                      <a:r>
                        <a:rPr lang="en-US" dirty="0"/>
                        <a:t>Intrusion Detection Models for IoT Networks via Deep Learning Approaches</a:t>
                      </a:r>
                      <a:endParaRPr lang="en-IN" dirty="0"/>
                    </a:p>
                  </a:txBody>
                  <a:tcPr/>
                </a:tc>
                <a:tc>
                  <a:txBody>
                    <a:bodyPr/>
                    <a:lstStyle/>
                    <a:p>
                      <a:r>
                        <a:rPr lang="en-IN" dirty="0" err="1"/>
                        <a:t>Bhukya</a:t>
                      </a:r>
                      <a:r>
                        <a:rPr lang="en-IN" dirty="0"/>
                        <a:t> Madhu, M. Venu Gopala Chari, Ramdas </a:t>
                      </a:r>
                      <a:r>
                        <a:rPr lang="en-IN" dirty="0" err="1"/>
                        <a:t>Vankdothu</a:t>
                      </a:r>
                      <a:r>
                        <a:rPr lang="en-IN" dirty="0"/>
                        <a:t>, Arun Kumar </a:t>
                      </a:r>
                      <a:r>
                        <a:rPr lang="en-IN" dirty="0" err="1"/>
                        <a:t>Silivery</a:t>
                      </a:r>
                      <a:r>
                        <a:rPr lang="en-IN" dirty="0"/>
                        <a:t>, </a:t>
                      </a:r>
                      <a:r>
                        <a:rPr lang="en-IN" dirty="0" err="1"/>
                        <a:t>Veerender</a:t>
                      </a:r>
                      <a:r>
                        <a:rPr lang="en-IN" dirty="0"/>
                        <a:t> </a:t>
                      </a:r>
                      <a:r>
                        <a:rPr lang="en-IN" dirty="0" err="1"/>
                        <a:t>Aerranagula</a:t>
                      </a:r>
                      <a:endParaRPr lang="en-IN" dirty="0"/>
                    </a:p>
                  </a:txBody>
                  <a:tcPr/>
                </a:tc>
                <a:tc>
                  <a:txBody>
                    <a:bodyPr/>
                    <a:lstStyle/>
                    <a:p>
                      <a:r>
                        <a:rPr lang="en-IN" dirty="0"/>
                        <a:t>9 December 2022</a:t>
                      </a:r>
                      <a:endParaRPr lang="en-IN" dirty="0"/>
                    </a:p>
                  </a:txBody>
                  <a:tcPr/>
                </a:tc>
                <a:tc>
                  <a:txBody>
                    <a:bodyPr/>
                    <a:lstStyle/>
                    <a:p>
                      <a:r>
                        <a:rPr lang="en-US" dirty="0"/>
                        <a:t>Device-Based Intrusion Detection System (DIDS), Deep Learning</a:t>
                      </a:r>
                      <a:endParaRPr lang="en-IN" dirty="0"/>
                    </a:p>
                  </a:txBody>
                  <a:tcPr/>
                </a:tc>
                <a:tc>
                  <a:txBody>
                    <a:bodyPr/>
                    <a:lstStyle/>
                    <a:p>
                      <a:pPr marL="285750" indent="-285750">
                        <a:buFont typeface="Wingdings" panose="05000000000000000000" pitchFamily="2" charset="2"/>
                        <a:buChar char="§"/>
                      </a:pPr>
                      <a:r>
                        <a:rPr lang="en-US" dirty="0"/>
                        <a:t>Handles large volumes of IoT traffic with reduced overhead</a:t>
                      </a:r>
                      <a:endParaRPr lang="en-US" dirty="0"/>
                    </a:p>
                    <a:p>
                      <a:pPr marL="285750" indent="-285750">
                        <a:buFont typeface="Wingdings" panose="05000000000000000000" pitchFamily="2" charset="2"/>
                        <a:buChar char="§"/>
                      </a:pPr>
                      <a:r>
                        <a:rPr lang="en-US" dirty="0"/>
                        <a:t>Efficiently detects unknown attacks in real-time IoT networks</a:t>
                      </a:r>
                      <a:endParaRPr lang="en-IN" dirty="0"/>
                    </a:p>
                  </a:txBody>
                  <a:tcPr/>
                </a:tc>
                <a:tc>
                  <a:txBody>
                    <a:bodyPr/>
                    <a:lstStyle/>
                    <a:p>
                      <a:pPr marL="285750" indent="-285750">
                        <a:buFont typeface="Wingdings" panose="05000000000000000000" pitchFamily="2" charset="2"/>
                        <a:buChar char="§"/>
                      </a:pPr>
                      <a:r>
                        <a:rPr lang="en-IN" dirty="0"/>
                        <a:t>Computational overhead in large-scale IoT environments</a:t>
                      </a:r>
                      <a:endParaRPr lang="en-IN" dirty="0"/>
                    </a:p>
                    <a:p>
                      <a:pPr marL="285750" indent="-285750">
                        <a:buFont typeface="Wingdings" panose="05000000000000000000" pitchFamily="2" charset="2"/>
                        <a:buChar char="§"/>
                      </a:pPr>
                      <a:r>
                        <a:rPr lang="en-US" dirty="0"/>
                        <a:t>Lacks robustness in handling certain advanced attack types</a:t>
                      </a:r>
                      <a:endParaRPr lang="en-IN" dirty="0"/>
                    </a:p>
                  </a:txBody>
                  <a:tcPr/>
                </a:tc>
              </a:tr>
              <a:tr h="2560903">
                <a:tc>
                  <a:txBody>
                    <a:bodyPr/>
                    <a:lstStyle/>
                    <a:p>
                      <a:r>
                        <a:rPr lang="en-IN" dirty="0"/>
                        <a:t>4</a:t>
                      </a:r>
                      <a:endParaRPr lang="en-IN" dirty="0"/>
                    </a:p>
                  </a:txBody>
                  <a:tcPr/>
                </a:tc>
                <a:tc>
                  <a:txBody>
                    <a:bodyPr/>
                    <a:lstStyle/>
                    <a:p>
                      <a:r>
                        <a:rPr lang="en-US" dirty="0"/>
                        <a:t> Identification of Cyber Attacks Using Machine Learning in Smart IoT Networks</a:t>
                      </a:r>
                      <a:endParaRPr lang="en-IN" dirty="0"/>
                    </a:p>
                  </a:txBody>
                  <a:tcPr/>
                </a:tc>
                <a:tc>
                  <a:txBody>
                    <a:bodyPr/>
                    <a:lstStyle/>
                    <a:p>
                      <a:r>
                        <a:rPr lang="en-IN" dirty="0"/>
                        <a:t>C. Malathi, I. Naga Padmaja</a:t>
                      </a:r>
                      <a:endParaRPr lang="en-IN" dirty="0"/>
                    </a:p>
                  </a:txBody>
                  <a:tcPr/>
                </a:tc>
                <a:tc>
                  <a:txBody>
                    <a:bodyPr/>
                    <a:lstStyle/>
                    <a:p>
                      <a:r>
                        <a:rPr lang="en-IN" dirty="0"/>
                        <a:t>2023</a:t>
                      </a:r>
                      <a:endParaRPr lang="en-IN" dirty="0"/>
                    </a:p>
                  </a:txBody>
                  <a:tcPr/>
                </a:tc>
                <a:tc>
                  <a:txBody>
                    <a:bodyPr/>
                    <a:lstStyle/>
                    <a:p>
                      <a:r>
                        <a:rPr lang="en-US" dirty="0"/>
                        <a:t>Machine Learning (various algorithms), Bot-IoT metadata</a:t>
                      </a:r>
                      <a:endParaRPr lang="en-IN" dirty="0"/>
                    </a:p>
                  </a:txBody>
                  <a:tcPr/>
                </a:tc>
                <a:tc>
                  <a:txBody>
                    <a:bodyPr/>
                    <a:lstStyle/>
                    <a:p>
                      <a:pPr marL="285750" indent="-285750">
                        <a:buFont typeface="Wingdings" panose="05000000000000000000" pitchFamily="2" charset="2"/>
                        <a:buChar char="§"/>
                      </a:pPr>
                      <a:r>
                        <a:rPr lang="en-US" dirty="0"/>
                        <a:t>High success in detecting DoS attacks using Bot-IoT dataset</a:t>
                      </a:r>
                      <a:endParaRPr lang="en-US" dirty="0"/>
                    </a:p>
                    <a:p>
                      <a:pPr marL="285750" indent="-285750">
                        <a:buFont typeface="Wingdings" panose="05000000000000000000" pitchFamily="2" charset="2"/>
                        <a:buChar char="§"/>
                      </a:pPr>
                      <a:r>
                        <a:rPr lang="en-US" dirty="0"/>
                        <a:t>Utilizes multiple machine learning algorithms for comparison</a:t>
                      </a:r>
                      <a:endParaRPr lang="en-IN" dirty="0"/>
                    </a:p>
                  </a:txBody>
                  <a:tcPr/>
                </a:tc>
                <a:tc>
                  <a:txBody>
                    <a:bodyPr/>
                    <a:lstStyle/>
                    <a:p>
                      <a:pPr marL="285750" indent="-285750">
                        <a:buFont typeface="Wingdings" panose="05000000000000000000" pitchFamily="2" charset="2"/>
                        <a:buChar char="§"/>
                      </a:pPr>
                      <a:r>
                        <a:rPr lang="en-US" dirty="0"/>
                        <a:t>High computational resource requirement for training</a:t>
                      </a:r>
                      <a:endParaRPr lang="en-US" dirty="0"/>
                    </a:p>
                    <a:p>
                      <a:pPr marL="285750" indent="-285750">
                        <a:buFont typeface="Wingdings" panose="05000000000000000000" pitchFamily="2" charset="2"/>
                        <a:buChar char="§"/>
                      </a:pPr>
                      <a:r>
                        <a:rPr lang="en-US" dirty="0"/>
                        <a:t>Difficult to implement in real-time IoT systems</a:t>
                      </a:r>
                      <a:endParaRPr lang="en-IN" dirty="0"/>
                    </a:p>
                  </a:txBody>
                  <a:tcPr/>
                </a:tc>
              </a:tr>
            </a:tbl>
          </a:graphicData>
        </a:graphic>
      </p:graphicFrame>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6" name="Content Placeholder 3"/>
          <p:cNvGraphicFramePr>
            <a:graphicFrameLocks noGrp="1"/>
          </p:cNvGraphicFramePr>
          <p:nvPr>
            <p:ph idx="1"/>
          </p:nvPr>
        </p:nvGraphicFramePr>
        <p:xfrm>
          <a:off x="35858" y="1014085"/>
          <a:ext cx="12120284" cy="5646654"/>
        </p:xfrm>
        <a:graphic>
          <a:graphicData uri="http://schemas.openxmlformats.org/drawingml/2006/table">
            <a:tbl>
              <a:tblPr firstRow="1" bandRow="1">
                <a:tableStyleId>{5C22544A-7EE6-4342-B048-85BDC9FD1C3A}</a:tableStyleId>
              </a:tblPr>
              <a:tblGrid>
                <a:gridCol w="774060"/>
                <a:gridCol w="2379308"/>
                <a:gridCol w="1391738"/>
                <a:gridCol w="1228164"/>
                <a:gridCol w="1362636"/>
                <a:gridCol w="2572870"/>
                <a:gridCol w="2411508"/>
              </a:tblGrid>
              <a:tr h="918510">
                <a:tc>
                  <a:txBody>
                    <a:bodyPr/>
                    <a:lstStyle/>
                    <a:p>
                      <a:pPr algn="ctr"/>
                      <a:r>
                        <a:rPr lang="en-IN" dirty="0"/>
                        <a:t>S.NO</a:t>
                      </a:r>
                      <a:endParaRPr lang="en-IN" dirty="0"/>
                    </a:p>
                  </a:txBody>
                  <a:tcPr/>
                </a:tc>
                <a:tc>
                  <a:txBody>
                    <a:bodyPr/>
                    <a:lstStyle/>
                    <a:p>
                      <a:pPr algn="ctr"/>
                      <a:r>
                        <a:rPr lang="en-IN" dirty="0"/>
                        <a:t>TITLE</a:t>
                      </a:r>
                      <a:endParaRPr lang="en-IN" dirty="0"/>
                    </a:p>
                  </a:txBody>
                  <a:tcPr/>
                </a:tc>
                <a:tc>
                  <a:txBody>
                    <a:bodyPr/>
                    <a:lstStyle/>
                    <a:p>
                      <a:pPr algn="ctr"/>
                      <a:r>
                        <a:rPr lang="en-IN" dirty="0"/>
                        <a:t>AUTHOR</a:t>
                      </a:r>
                      <a:endParaRPr lang="en-IN" dirty="0"/>
                    </a:p>
                  </a:txBody>
                  <a:tcPr/>
                </a:tc>
                <a:tc>
                  <a:txBody>
                    <a:bodyPr/>
                    <a:lstStyle/>
                    <a:p>
                      <a:pPr algn="ctr"/>
                      <a:r>
                        <a:rPr lang="en-IN" dirty="0"/>
                        <a:t>ACCEPTED DATE</a:t>
                      </a:r>
                      <a:endParaRPr lang="en-IN" dirty="0"/>
                    </a:p>
                  </a:txBody>
                  <a:tcPr/>
                </a:tc>
                <a:tc>
                  <a:txBody>
                    <a:bodyPr/>
                    <a:lstStyle/>
                    <a:p>
                      <a:pPr algn="ctr"/>
                      <a:r>
                        <a:rPr lang="en-IN" dirty="0"/>
                        <a:t>MODEL</a:t>
                      </a:r>
                      <a:endParaRPr lang="en-IN" dirty="0"/>
                    </a:p>
                  </a:txBody>
                  <a:tcPr/>
                </a:tc>
                <a:tc>
                  <a:txBody>
                    <a:bodyPr/>
                    <a:lstStyle/>
                    <a:p>
                      <a:pPr algn="ctr"/>
                      <a:r>
                        <a:rPr lang="en-IN" dirty="0"/>
                        <a:t>MERITS</a:t>
                      </a:r>
                      <a:endParaRPr lang="en-IN" dirty="0"/>
                    </a:p>
                  </a:txBody>
                  <a:tcPr/>
                </a:tc>
                <a:tc>
                  <a:txBody>
                    <a:bodyPr/>
                    <a:lstStyle/>
                    <a:p>
                      <a:pPr algn="ctr"/>
                      <a:r>
                        <a:rPr lang="en-IN" dirty="0"/>
                        <a:t>DEMERITS</a:t>
                      </a:r>
                      <a:endParaRPr lang="en-IN" dirty="0"/>
                    </a:p>
                  </a:txBody>
                  <a:tcPr/>
                </a:tc>
              </a:tr>
              <a:tr h="2364072">
                <a:tc>
                  <a:txBody>
                    <a:bodyPr/>
                    <a:lstStyle/>
                    <a:p>
                      <a:r>
                        <a:rPr lang="en-IN" dirty="0"/>
                        <a:t>5</a:t>
                      </a:r>
                      <a:endParaRPr lang="en-IN" dirty="0"/>
                    </a:p>
                  </a:txBody>
                  <a:tcPr/>
                </a:tc>
                <a:tc>
                  <a:txBody>
                    <a:bodyPr/>
                    <a:lstStyle/>
                    <a:p>
                      <a:r>
                        <a:rPr lang="en-US" dirty="0"/>
                        <a:t>A Blockchain-Based Intrusion Detection/Prevention Systems in IoT Network: A Systematic Review</a:t>
                      </a:r>
                      <a:endParaRPr lang="en-IN" dirty="0"/>
                    </a:p>
                  </a:txBody>
                  <a:tcPr/>
                </a:tc>
                <a:tc>
                  <a:txBody>
                    <a:bodyPr/>
                    <a:lstStyle/>
                    <a:p>
                      <a:r>
                        <a:rPr lang="es-ES" dirty="0" err="1"/>
                        <a:t>Khawla</a:t>
                      </a:r>
                      <a:r>
                        <a:rPr lang="es-ES" dirty="0"/>
                        <a:t> </a:t>
                      </a:r>
                      <a:r>
                        <a:rPr lang="es-ES" dirty="0" err="1"/>
                        <a:t>Shalabi</a:t>
                      </a:r>
                      <a:r>
                        <a:rPr lang="es-ES" dirty="0"/>
                        <a:t>, </a:t>
                      </a:r>
                      <a:r>
                        <a:rPr lang="es-ES" dirty="0" err="1"/>
                        <a:t>Qasem</a:t>
                      </a:r>
                      <a:r>
                        <a:rPr lang="es-ES" dirty="0"/>
                        <a:t> Abu Al-</a:t>
                      </a:r>
                      <a:r>
                        <a:rPr lang="es-ES" dirty="0" err="1"/>
                        <a:t>Haija</a:t>
                      </a:r>
                      <a:r>
                        <a:rPr lang="es-ES" dirty="0"/>
                        <a:t>, </a:t>
                      </a:r>
                      <a:r>
                        <a:rPr lang="es-ES" dirty="0" err="1"/>
                        <a:t>Mustafa</a:t>
                      </a:r>
                      <a:r>
                        <a:rPr lang="es-ES" dirty="0"/>
                        <a:t> Al-</a:t>
                      </a:r>
                      <a:r>
                        <a:rPr lang="es-ES" dirty="0" err="1"/>
                        <a:t>Fayoumi</a:t>
                      </a:r>
                      <a:endParaRPr lang="en-IN" dirty="0"/>
                    </a:p>
                  </a:txBody>
                  <a:tcPr/>
                </a:tc>
                <a:tc>
                  <a:txBody>
                    <a:bodyPr/>
                    <a:lstStyle/>
                    <a:p>
                      <a:r>
                        <a:rPr lang="en-IN" dirty="0"/>
                        <a:t>2024</a:t>
                      </a:r>
                      <a:endParaRPr lang="en-IN" dirty="0"/>
                    </a:p>
                  </a:txBody>
                  <a:tcPr/>
                </a:tc>
                <a:tc>
                  <a:txBody>
                    <a:bodyPr/>
                    <a:lstStyle/>
                    <a:p>
                      <a:r>
                        <a:rPr lang="en-IN" dirty="0"/>
                        <a:t>Blockchain-based IDS/IPS</a:t>
                      </a:r>
                      <a:endParaRPr lang="en-IN" dirty="0"/>
                    </a:p>
                  </a:txBody>
                  <a:tcPr/>
                </a:tc>
                <a:tc>
                  <a:txBody>
                    <a:bodyPr/>
                    <a:lstStyle/>
                    <a:p>
                      <a:pPr marL="285750" indent="-285750">
                        <a:buFont typeface="Wingdings" panose="05000000000000000000" pitchFamily="2" charset="2"/>
                        <a:buChar char="§"/>
                      </a:pPr>
                      <a:r>
                        <a:rPr lang="en-US" dirty="0"/>
                        <a:t>Enhances privacy and security using blockchain mechanisms</a:t>
                      </a:r>
                      <a:endParaRPr lang="en-US" dirty="0"/>
                    </a:p>
                    <a:p>
                      <a:pPr marL="285750" indent="-285750">
                        <a:buFont typeface="Wingdings" panose="05000000000000000000" pitchFamily="2" charset="2"/>
                        <a:buChar char="§"/>
                      </a:pPr>
                      <a:r>
                        <a:rPr lang="en-US" dirty="0"/>
                        <a:t>Provides insight into blockchain's role in preventing future attacks</a:t>
                      </a:r>
                      <a:endParaRPr lang="en-IN" dirty="0"/>
                    </a:p>
                  </a:txBody>
                  <a:tcPr/>
                </a:tc>
                <a:tc>
                  <a:txBody>
                    <a:bodyPr/>
                    <a:lstStyle/>
                    <a:p>
                      <a:pPr marL="285750" indent="-285750">
                        <a:buFont typeface="Wingdings" panose="05000000000000000000" pitchFamily="2" charset="2"/>
                        <a:buChar char="§"/>
                      </a:pPr>
                      <a:r>
                        <a:rPr lang="en-US" dirty="0"/>
                        <a:t>Blockchain validation can introduce latency in detection</a:t>
                      </a:r>
                      <a:endParaRPr lang="en-US" dirty="0"/>
                    </a:p>
                    <a:p>
                      <a:pPr marL="285750" indent="-285750">
                        <a:buFont typeface="Wingdings" panose="05000000000000000000" pitchFamily="2" charset="2"/>
                        <a:buChar char="§"/>
                      </a:pPr>
                      <a:r>
                        <a:rPr lang="en-US" dirty="0"/>
                        <a:t>Difficult to implement on resource-limited IoT devices</a:t>
                      </a:r>
                      <a:endParaRPr lang="en-IN" dirty="0"/>
                    </a:p>
                  </a:txBody>
                  <a:tcPr/>
                </a:tc>
              </a:tr>
              <a:tr h="2364072">
                <a:tc>
                  <a:txBody>
                    <a:bodyPr/>
                    <a:lstStyle/>
                    <a:p>
                      <a:r>
                        <a:rPr lang="en-IN" dirty="0"/>
                        <a:t>6</a:t>
                      </a:r>
                      <a:endParaRPr lang="en-IN" dirty="0"/>
                    </a:p>
                  </a:txBody>
                  <a:tcPr/>
                </a:tc>
                <a:tc>
                  <a:txBody>
                    <a:bodyPr/>
                    <a:lstStyle/>
                    <a:p>
                      <a:r>
                        <a:rPr lang="en-US" dirty="0"/>
                        <a:t>Implementation of Attack Detection and Mitigation for Securing Cloud-Based IoT Network</a:t>
                      </a:r>
                      <a:endParaRPr lang="en-IN" dirty="0"/>
                    </a:p>
                  </a:txBody>
                  <a:tcPr/>
                </a:tc>
                <a:tc>
                  <a:txBody>
                    <a:bodyPr/>
                    <a:lstStyle/>
                    <a:p>
                      <a:r>
                        <a:rPr lang="en-US" dirty="0"/>
                        <a:t>Archana D. </a:t>
                      </a:r>
                      <a:r>
                        <a:rPr lang="en-US" dirty="0" err="1"/>
                        <a:t>Wankhade</a:t>
                      </a:r>
                      <a:r>
                        <a:rPr lang="en-US" dirty="0"/>
                        <a:t>, Kishor P. </a:t>
                      </a:r>
                      <a:r>
                        <a:rPr lang="en-US" dirty="0" err="1"/>
                        <a:t>Wagh</a:t>
                      </a:r>
                      <a:endParaRPr lang="en-IN" dirty="0"/>
                    </a:p>
                  </a:txBody>
                  <a:tcPr/>
                </a:tc>
                <a:tc>
                  <a:txBody>
                    <a:bodyPr/>
                    <a:lstStyle/>
                    <a:p>
                      <a:r>
                        <a:rPr lang="en-IN"/>
                        <a:t>5 May 2024</a:t>
                      </a:r>
                      <a:endParaRPr lang="en-IN" dirty="0"/>
                    </a:p>
                  </a:txBody>
                  <a:tcPr/>
                </a:tc>
                <a:tc>
                  <a:txBody>
                    <a:bodyPr/>
                    <a:lstStyle/>
                    <a:p>
                      <a:r>
                        <a:rPr lang="en-US" dirty="0"/>
                        <a:t>Decision Tree, K-Nearest Neighbors (KNN), Logistic Regression</a:t>
                      </a:r>
                      <a:endParaRPr lang="en-IN" dirty="0"/>
                    </a:p>
                  </a:txBody>
                  <a:tcPr/>
                </a:tc>
                <a:tc>
                  <a:txBody>
                    <a:bodyPr/>
                    <a:lstStyle/>
                    <a:p>
                      <a:pPr marL="285750" indent="-285750">
                        <a:buFont typeface="Wingdings" panose="05000000000000000000" pitchFamily="2" charset="2"/>
                        <a:buChar char="§"/>
                      </a:pPr>
                      <a:r>
                        <a:rPr lang="en-US" dirty="0"/>
                        <a:t>Robust performance across different machine learning algorithms</a:t>
                      </a:r>
                      <a:endParaRPr lang="en-US" dirty="0"/>
                    </a:p>
                    <a:p>
                      <a:pPr marL="285750" indent="-285750">
                        <a:buFont typeface="Wingdings" panose="05000000000000000000" pitchFamily="2" charset="2"/>
                        <a:buChar char="§"/>
                      </a:pPr>
                      <a:r>
                        <a:rPr lang="en-US" dirty="0"/>
                        <a:t>Effective use of lightweight cryptography for IoT devices</a:t>
                      </a:r>
                      <a:endParaRPr lang="en-IN" dirty="0"/>
                    </a:p>
                  </a:txBody>
                  <a:tcPr/>
                </a:tc>
                <a:tc>
                  <a:txBody>
                    <a:bodyPr/>
                    <a:lstStyle/>
                    <a:p>
                      <a:pPr marL="285750" indent="-285750">
                        <a:buFont typeface="Wingdings" panose="05000000000000000000" pitchFamily="2" charset="2"/>
                        <a:buChar char="§"/>
                      </a:pPr>
                      <a:r>
                        <a:rPr lang="en-US" dirty="0"/>
                        <a:t>Limited scalability due to computational complexity</a:t>
                      </a:r>
                      <a:endParaRPr lang="en-US" dirty="0"/>
                    </a:p>
                    <a:p>
                      <a:pPr marL="285750" indent="-285750">
                        <a:buFont typeface="Wingdings" panose="05000000000000000000" pitchFamily="2" charset="2"/>
                        <a:buChar char="§"/>
                      </a:pPr>
                      <a:r>
                        <a:rPr lang="en-US" dirty="0"/>
                        <a:t>Lightweight cryptography struggles with high-resource IoT devices</a:t>
                      </a:r>
                      <a:endParaRPr lang="en-IN" dirty="0"/>
                    </a:p>
                  </a:txBody>
                  <a:tcPr/>
                </a:tc>
              </a:tr>
            </a:tbl>
          </a:graphicData>
        </a:graphic>
      </p:graphicFrame>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7" name="Content Placeholder 3"/>
          <p:cNvGraphicFramePr>
            <a:graphicFrameLocks noGrp="1"/>
          </p:cNvGraphicFramePr>
          <p:nvPr>
            <p:ph idx="1"/>
          </p:nvPr>
        </p:nvGraphicFramePr>
        <p:xfrm>
          <a:off x="35858" y="1129699"/>
          <a:ext cx="12120284" cy="5636065"/>
        </p:xfrm>
        <a:graphic>
          <a:graphicData uri="http://schemas.openxmlformats.org/drawingml/2006/table">
            <a:tbl>
              <a:tblPr firstRow="1" bandRow="1">
                <a:tableStyleId>{5C22544A-7EE6-4342-B048-85BDC9FD1C3A}</a:tableStyleId>
              </a:tblPr>
              <a:tblGrid>
                <a:gridCol w="708213"/>
                <a:gridCol w="2286000"/>
                <a:gridCol w="1721224"/>
                <a:gridCol w="1192306"/>
                <a:gridCol w="1506070"/>
                <a:gridCol w="2312895"/>
                <a:gridCol w="2393576"/>
              </a:tblGrid>
              <a:tr h="789745">
                <a:tc>
                  <a:txBody>
                    <a:bodyPr/>
                    <a:lstStyle/>
                    <a:p>
                      <a:pPr algn="ctr"/>
                      <a:r>
                        <a:rPr lang="en-IN" dirty="0"/>
                        <a:t>S.NO</a:t>
                      </a:r>
                      <a:endParaRPr lang="en-IN" dirty="0"/>
                    </a:p>
                  </a:txBody>
                  <a:tcPr/>
                </a:tc>
                <a:tc>
                  <a:txBody>
                    <a:bodyPr/>
                    <a:lstStyle/>
                    <a:p>
                      <a:pPr algn="ctr"/>
                      <a:r>
                        <a:rPr lang="en-IN" dirty="0"/>
                        <a:t>TITLE</a:t>
                      </a:r>
                      <a:endParaRPr lang="en-IN" dirty="0"/>
                    </a:p>
                  </a:txBody>
                  <a:tcPr/>
                </a:tc>
                <a:tc>
                  <a:txBody>
                    <a:bodyPr/>
                    <a:lstStyle/>
                    <a:p>
                      <a:pPr algn="ctr"/>
                      <a:r>
                        <a:rPr lang="en-IN" dirty="0"/>
                        <a:t>AUTHOR</a:t>
                      </a:r>
                      <a:endParaRPr lang="en-IN" dirty="0"/>
                    </a:p>
                  </a:txBody>
                  <a:tcPr/>
                </a:tc>
                <a:tc>
                  <a:txBody>
                    <a:bodyPr/>
                    <a:lstStyle/>
                    <a:p>
                      <a:pPr algn="ctr"/>
                      <a:r>
                        <a:rPr lang="en-IN" dirty="0"/>
                        <a:t>ACCEPTED DATE</a:t>
                      </a:r>
                      <a:endParaRPr lang="en-IN" dirty="0"/>
                    </a:p>
                  </a:txBody>
                  <a:tcPr/>
                </a:tc>
                <a:tc>
                  <a:txBody>
                    <a:bodyPr/>
                    <a:lstStyle/>
                    <a:p>
                      <a:pPr algn="ctr"/>
                      <a:r>
                        <a:rPr lang="en-IN" dirty="0"/>
                        <a:t>MODEL</a:t>
                      </a:r>
                      <a:endParaRPr lang="en-IN" dirty="0"/>
                    </a:p>
                  </a:txBody>
                  <a:tcPr/>
                </a:tc>
                <a:tc>
                  <a:txBody>
                    <a:bodyPr/>
                    <a:lstStyle/>
                    <a:p>
                      <a:pPr algn="ctr"/>
                      <a:r>
                        <a:rPr lang="en-IN" dirty="0"/>
                        <a:t>MERITS</a:t>
                      </a:r>
                      <a:endParaRPr lang="en-IN" dirty="0"/>
                    </a:p>
                  </a:txBody>
                  <a:tcPr/>
                </a:tc>
                <a:tc>
                  <a:txBody>
                    <a:bodyPr/>
                    <a:lstStyle/>
                    <a:p>
                      <a:pPr algn="ctr"/>
                      <a:r>
                        <a:rPr lang="en-IN" dirty="0"/>
                        <a:t>DEMERITS</a:t>
                      </a:r>
                      <a:endParaRPr lang="en-IN" dirty="0"/>
                    </a:p>
                  </a:txBody>
                  <a:tcPr/>
                </a:tc>
              </a:tr>
              <a:tr h="2243627">
                <a:tc>
                  <a:txBody>
                    <a:bodyPr/>
                    <a:lstStyle/>
                    <a:p>
                      <a:r>
                        <a:rPr lang="en-IN" dirty="0"/>
                        <a:t>7</a:t>
                      </a:r>
                      <a:endParaRPr lang="en-IN" dirty="0"/>
                    </a:p>
                  </a:txBody>
                  <a:tcPr/>
                </a:tc>
                <a:tc>
                  <a:txBody>
                    <a:bodyPr/>
                    <a:lstStyle/>
                    <a:p>
                      <a:r>
                        <a:rPr lang="en-IN" dirty="0"/>
                        <a:t>Intrusion Detection Using Synaptic Intelligent Convolutional Neural Networks for Dynamic IoT Environments</a:t>
                      </a:r>
                      <a:endParaRPr lang="en-IN" dirty="0"/>
                    </a:p>
                  </a:txBody>
                  <a:tcPr/>
                </a:tc>
                <a:tc>
                  <a:txBody>
                    <a:bodyPr/>
                    <a:lstStyle/>
                    <a:p>
                      <a:r>
                        <a:rPr lang="en-IN" dirty="0"/>
                        <a:t>Hui Chen, </a:t>
                      </a:r>
                      <a:r>
                        <a:rPr lang="en-IN" dirty="0" err="1"/>
                        <a:t>Zhendong</a:t>
                      </a:r>
                      <a:r>
                        <a:rPr lang="en-IN" dirty="0"/>
                        <a:t> Wang, </a:t>
                      </a:r>
                      <a:r>
                        <a:rPr lang="en-IN" dirty="0" err="1"/>
                        <a:t>Shuxin</a:t>
                      </a:r>
                      <a:r>
                        <a:rPr lang="en-IN" dirty="0"/>
                        <a:t> Yang, Xiao Luo, </a:t>
                      </a:r>
                      <a:r>
                        <a:rPr lang="en-IN" dirty="0" err="1"/>
                        <a:t>Daojing</a:t>
                      </a:r>
                      <a:r>
                        <a:rPr lang="en-IN" dirty="0"/>
                        <a:t> He, Sammy Chan</a:t>
                      </a:r>
                      <a:endParaRPr lang="en-IN" dirty="0"/>
                    </a:p>
                  </a:txBody>
                  <a:tcPr/>
                </a:tc>
                <a:tc>
                  <a:txBody>
                    <a:bodyPr/>
                    <a:lstStyle/>
                    <a:p>
                      <a:r>
                        <a:rPr lang="en-IN" dirty="0"/>
                        <a:t>3 October 2024</a:t>
                      </a:r>
                      <a:endParaRPr lang="en-IN" dirty="0"/>
                    </a:p>
                  </a:txBody>
                  <a:tcPr/>
                </a:tc>
                <a:tc>
                  <a:txBody>
                    <a:bodyPr/>
                    <a:lstStyle/>
                    <a:p>
                      <a:r>
                        <a:rPr lang="en-IN" dirty="0"/>
                        <a:t>Synaptic Intelligent Convolutional Neural Networks (SICNN)</a:t>
                      </a:r>
                      <a:endParaRPr lang="en-IN" dirty="0"/>
                    </a:p>
                  </a:txBody>
                  <a:tcPr/>
                </a:tc>
                <a:tc>
                  <a:txBody>
                    <a:bodyPr/>
                    <a:lstStyle/>
                    <a:p>
                      <a:pPr marL="285750" indent="-285750">
                        <a:buFont typeface="Wingdings" panose="05000000000000000000" pitchFamily="2" charset="2"/>
                        <a:buChar char="§"/>
                      </a:pPr>
                      <a:r>
                        <a:rPr lang="en-US" dirty="0"/>
                        <a:t>High detection accuracy in dynamic, real-time IoT environments</a:t>
                      </a:r>
                      <a:endParaRPr lang="en-US" dirty="0"/>
                    </a:p>
                    <a:p>
                      <a:pPr marL="285750" indent="-285750">
                        <a:buFont typeface="Wingdings" panose="05000000000000000000" pitchFamily="2" charset="2"/>
                        <a:buChar char="§"/>
                      </a:pPr>
                      <a:r>
                        <a:rPr lang="en-US" dirty="0"/>
                        <a:t>Optimized for resource-constrained IoT devices</a:t>
                      </a:r>
                      <a:endParaRPr lang="en-IN" dirty="0"/>
                    </a:p>
                  </a:txBody>
                  <a:tcPr/>
                </a:tc>
                <a:tc>
                  <a:txBody>
                    <a:bodyPr/>
                    <a:lstStyle/>
                    <a:p>
                      <a:pPr marL="285750" indent="-285750">
                        <a:buFont typeface="Wingdings" panose="05000000000000000000" pitchFamily="2" charset="2"/>
                        <a:buChar char="§"/>
                      </a:pPr>
                      <a:r>
                        <a:rPr lang="en-US" dirty="0"/>
                        <a:t>High resource consumption limits deployment on low-power devices</a:t>
                      </a:r>
                      <a:endParaRPr lang="en-US" dirty="0"/>
                    </a:p>
                    <a:p>
                      <a:pPr marL="285750" indent="-285750">
                        <a:buFont typeface="Wingdings" panose="05000000000000000000" pitchFamily="2" charset="2"/>
                        <a:buChar char="§"/>
                      </a:pPr>
                      <a:r>
                        <a:rPr lang="en-US" dirty="0"/>
                        <a:t>Requires continuous data retraining due to IoT network changes</a:t>
                      </a:r>
                      <a:endParaRPr lang="en-IN" dirty="0"/>
                    </a:p>
                  </a:txBody>
                  <a:tcPr/>
                </a:tc>
              </a:tr>
              <a:tr h="2477868">
                <a:tc>
                  <a:txBody>
                    <a:bodyPr/>
                    <a:lstStyle/>
                    <a:p>
                      <a:r>
                        <a:rPr lang="en-IN" dirty="0"/>
                        <a:t>8</a:t>
                      </a:r>
                      <a:endParaRPr lang="en-IN" dirty="0"/>
                    </a:p>
                  </a:txBody>
                  <a:tcPr/>
                </a:tc>
                <a:tc>
                  <a:txBody>
                    <a:bodyPr/>
                    <a:lstStyle/>
                    <a:p>
                      <a:r>
                        <a:rPr lang="en-US" dirty="0"/>
                        <a:t> A Novel Stable Feature Selection Algorithm for Machine Learning-Based Intrusion Detection System</a:t>
                      </a:r>
                      <a:endParaRPr lang="en-IN" dirty="0"/>
                    </a:p>
                  </a:txBody>
                  <a:tcPr/>
                </a:tc>
                <a:tc>
                  <a:txBody>
                    <a:bodyPr/>
                    <a:lstStyle/>
                    <a:p>
                      <a:r>
                        <a:rPr lang="en-IN" dirty="0"/>
                        <a:t>Sowmya T, </a:t>
                      </a:r>
                      <a:r>
                        <a:rPr lang="en-IN" dirty="0" err="1"/>
                        <a:t>Dr.</a:t>
                      </a:r>
                      <a:r>
                        <a:rPr lang="en-IN" dirty="0"/>
                        <a:t> Mary Anita E A</a:t>
                      </a:r>
                      <a:endParaRPr lang="en-IN" dirty="0"/>
                    </a:p>
                  </a:txBody>
                  <a:tcPr/>
                </a:tc>
                <a:tc>
                  <a:txBody>
                    <a:bodyPr/>
                    <a:lstStyle/>
                    <a:p>
                      <a:r>
                        <a:rPr lang="en-IN" dirty="0"/>
                        <a:t>2025</a:t>
                      </a:r>
                      <a:endParaRPr lang="en-IN" dirty="0"/>
                    </a:p>
                  </a:txBody>
                  <a:tcPr/>
                </a:tc>
                <a:tc>
                  <a:txBody>
                    <a:bodyPr/>
                    <a:lstStyle/>
                    <a:p>
                      <a:r>
                        <a:rPr lang="en-US" dirty="0"/>
                        <a:t>IV-RFE (Iterative Variance and Recursive Feature Elimination), Machine Learning</a:t>
                      </a:r>
                      <a:endParaRPr lang="en-IN" dirty="0"/>
                    </a:p>
                  </a:txBody>
                  <a:tcPr/>
                </a:tc>
                <a:tc>
                  <a:txBody>
                    <a:bodyPr/>
                    <a:lstStyle/>
                    <a:p>
                      <a:pPr marL="285750" indent="-285750">
                        <a:buFont typeface="Wingdings" panose="05000000000000000000" pitchFamily="2" charset="2"/>
                        <a:buChar char="§"/>
                      </a:pPr>
                      <a:r>
                        <a:rPr lang="en-US" dirty="0"/>
                        <a:t>Improved accuracy and stability in feature selection for IDS</a:t>
                      </a:r>
                      <a:endParaRPr lang="en-US" dirty="0"/>
                    </a:p>
                    <a:p>
                      <a:pPr marL="285750" indent="-285750">
                        <a:buFont typeface="Wingdings" panose="05000000000000000000" pitchFamily="2" charset="2"/>
                        <a:buChar char="§"/>
                      </a:pPr>
                      <a:r>
                        <a:rPr lang="en-US" dirty="0"/>
                        <a:t>Reduces computational complexity in handling large datasets</a:t>
                      </a:r>
                      <a:endParaRPr lang="en-IN" dirty="0"/>
                    </a:p>
                  </a:txBody>
                  <a:tcPr/>
                </a:tc>
                <a:tc>
                  <a:txBody>
                    <a:bodyPr/>
                    <a:lstStyle/>
                    <a:p>
                      <a:pPr marL="285750" indent="-285750">
                        <a:buFont typeface="Wingdings" panose="05000000000000000000" pitchFamily="2" charset="2"/>
                        <a:buChar char="§"/>
                      </a:pPr>
                      <a:r>
                        <a:rPr lang="en-US" dirty="0"/>
                        <a:t>Complexity in managing large datasets with multiple features</a:t>
                      </a:r>
                      <a:endParaRPr lang="en-US" dirty="0"/>
                    </a:p>
                    <a:p>
                      <a:pPr marL="285750" indent="-285750">
                        <a:buFont typeface="Wingdings" panose="05000000000000000000" pitchFamily="2" charset="2"/>
                        <a:buChar char="§"/>
                      </a:pPr>
                      <a:r>
                        <a:rPr lang="en-US" dirty="0"/>
                        <a:t>Lacks scalability for larger networks</a:t>
                      </a:r>
                      <a:endParaRPr lang="en-IN" dirty="0"/>
                    </a:p>
                  </a:txBody>
                  <a:tcPr/>
                </a:tc>
              </a:tr>
            </a:tbl>
          </a:graphicData>
        </a:graphic>
      </p:graphicFrame>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pPr algn="ctr"/>
            <a:r>
              <a:rPr lang="en-IN" dirty="0"/>
              <a:t>OBJECTIVE</a:t>
            </a:r>
            <a:endParaRPr lang="en-IN" dirty="0"/>
          </a:p>
        </p:txBody>
      </p:sp>
      <p:sp>
        <p:nvSpPr>
          <p:cNvPr id="1048602" name="Content Placeholder 2"/>
          <p:cNvSpPr>
            <a:spLocks noGrp="1"/>
          </p:cNvSpPr>
          <p:nvPr>
            <p:ph idx="1"/>
          </p:nvPr>
        </p:nvSpPr>
        <p:spPr>
          <a:xfrm>
            <a:off x="1340069" y="2222937"/>
            <a:ext cx="10851930" cy="4244123"/>
          </a:xfrm>
        </p:spPr>
        <p:txBody>
          <a:bodyPr/>
          <a:lstStyle/>
          <a:p>
            <a:pPr marL="342900" indent="-342900" algn="just">
              <a:buFont typeface="Arial" panose="020B0604020202020204" pitchFamily="34" charset="0"/>
              <a:buChar char="•"/>
            </a:pPr>
            <a:r>
              <a:rPr lang="en-IN" altLang="en-US" sz="2800" dirty="0">
                <a:latin typeface="Times New Roman" panose="02020603050405020304" pitchFamily="18" charset="0"/>
                <a:cs typeface="Times New Roman" panose="02020603050405020304" pitchFamily="18" charset="0"/>
              </a:rPr>
              <a:t>To implement s</a:t>
            </a:r>
            <a:r>
              <a:rPr lang="en-US" sz="2800" dirty="0">
                <a:latin typeface="Times New Roman" panose="02020603050405020304" pitchFamily="18" charset="0"/>
                <a:cs typeface="Times New Roman" panose="02020603050405020304" pitchFamily="18" charset="0"/>
              </a:rPr>
              <a:t>ecure data transmission with blockchain and federated learning</a:t>
            </a:r>
            <a:r>
              <a:rPr lang="en-IN" altLang="en-US" sz="2800" dirty="0">
                <a:latin typeface="Times New Roman" panose="02020603050405020304" pitchFamily="18" charset="0"/>
                <a:cs typeface="Times New Roman" panose="02020603050405020304" pitchFamily="18" charset="0"/>
              </a:rPr>
              <a:t> over IoT network</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altLang="en-US" sz="2800" dirty="0">
                <a:latin typeface="Times New Roman" panose="02020603050405020304" pitchFamily="18" charset="0"/>
                <a:cs typeface="Times New Roman" panose="02020603050405020304" pitchFamily="18" charset="0"/>
              </a:rPr>
              <a:t>To detect cyber attacks and </a:t>
            </a:r>
            <a:r>
              <a:rPr lang="en-US" sz="2800" dirty="0">
                <a:latin typeface="Times New Roman" panose="02020603050405020304" pitchFamily="18" charset="0"/>
                <a:cs typeface="Times New Roman" panose="02020603050405020304" pitchFamily="18" charset="0"/>
              </a:rPr>
              <a:t>prevent unauthorized access</a:t>
            </a:r>
            <a:r>
              <a:rPr lang="en-IN" alt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altLang="en-US" sz="2800" dirty="0">
                <a:latin typeface="Times New Roman" panose="02020603050405020304" pitchFamily="18" charset="0"/>
                <a:cs typeface="Times New Roman" panose="02020603050405020304" pitchFamily="18" charset="0"/>
              </a:rPr>
              <a:t>To evaluate the peformance of proposed model for e</a:t>
            </a:r>
            <a:r>
              <a:rPr lang="en-US" sz="2800" dirty="0">
                <a:latin typeface="Times New Roman" panose="02020603050405020304" pitchFamily="18" charset="0"/>
                <a:cs typeface="Times New Roman" panose="02020603050405020304" pitchFamily="18" charset="0"/>
              </a:rPr>
              <a:t>nsur</a:t>
            </a:r>
            <a:r>
              <a:rPr lang="en-IN" altLang="en-US" sz="2800" dirty="0">
                <a:latin typeface="Times New Roman" panose="02020603050405020304" pitchFamily="18" charset="0"/>
                <a:cs typeface="Times New Roman" panose="02020603050405020304" pitchFamily="18" charset="0"/>
              </a:rPr>
              <a:t>ing</a:t>
            </a:r>
            <a:r>
              <a:rPr lang="en-US" sz="2800" dirty="0">
                <a:latin typeface="Times New Roman" panose="02020603050405020304" pitchFamily="18" charset="0"/>
                <a:cs typeface="Times New Roman" panose="02020603050405020304" pitchFamily="18" charset="0"/>
              </a:rPr>
              <a:t> scalab</a:t>
            </a:r>
            <a:r>
              <a:rPr lang="en-US" altLang="en-GB" sz="2800" dirty="0">
                <a:latin typeface="Times New Roman" panose="02020603050405020304" pitchFamily="18" charset="0"/>
                <a:cs typeface="Times New Roman" panose="02020603050405020304" pitchFamily="18" charset="0"/>
              </a:rPr>
              <a:t>ility and efficiency</a:t>
            </a:r>
            <a:endParaRPr lang="en-IN" sz="2800" dirty="0">
              <a:latin typeface="Times New Roman" panose="02020603050405020304" pitchFamily="18" charset="0"/>
              <a:cs typeface="Times New Roman" panose="02020603050405020304" pitchFamily="18" charset="0"/>
            </a:endParaRPr>
          </a:p>
          <a:p>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p:txBody>
          <a:bodyPr/>
          <a:lstStyle/>
          <a:p>
            <a:pPr algn="ctr"/>
            <a:r>
              <a:rPr lang="en-IN" dirty="0"/>
              <a:t>WORK PLAN</a:t>
            </a:r>
            <a:endParaRPr lang="en-IN" dirty="0"/>
          </a:p>
        </p:txBody>
      </p:sp>
      <p:graphicFrame>
        <p:nvGraphicFramePr>
          <p:cNvPr id="4194308" name="Content Placeholder 3"/>
          <p:cNvGraphicFramePr>
            <a:graphicFrameLocks noGrp="1"/>
          </p:cNvGraphicFramePr>
          <p:nvPr>
            <p:ph idx="1"/>
          </p:nvPr>
        </p:nvGraphicFramePr>
        <p:xfrm>
          <a:off x="409903" y="1387366"/>
          <a:ext cx="11146221" cy="504496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p:txBody>
          <a:bodyPr/>
          <a:lstStyle/>
          <a:p>
            <a:r>
              <a:rPr lang="en-IN" dirty="0"/>
              <a:t>EXISTING SYSTEM WITH LIMITATIONS</a:t>
            </a:r>
            <a:endParaRPr lang="en-IN" dirty="0"/>
          </a:p>
        </p:txBody>
      </p:sp>
      <p:sp>
        <p:nvSpPr>
          <p:cNvPr id="1048600" name="Content Placeholder 2"/>
          <p:cNvSpPr>
            <a:spLocks noGrp="1"/>
          </p:cNvSpPr>
          <p:nvPr>
            <p:ph idx="1"/>
          </p:nvPr>
        </p:nvSpPr>
        <p:spPr>
          <a:xfrm>
            <a:off x="10866" y="1450427"/>
            <a:ext cx="12192000" cy="5095461"/>
          </a:xfrm>
        </p:spPr>
        <p:txBody>
          <a:bodyPr/>
          <a:lstStyle/>
          <a:p>
            <a:pPr marL="342900" indent="-342900" algn="just">
              <a:lnSpc>
                <a:spcPts val="34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current methods for securing data transmission have several challenges. Centralized systems are prone to failure and can be attacked easily. Encryption helps keep data private but doesn't stop unauthorized access or data changes </a:t>
            </a:r>
            <a:endParaRPr lang="en-US" sz="2800" dirty="0">
              <a:latin typeface="Times New Roman" panose="02020603050405020304" pitchFamily="18" charset="0"/>
              <a:cs typeface="Times New Roman" panose="02020603050405020304" pitchFamily="18" charset="0"/>
            </a:endParaRPr>
          </a:p>
          <a:p>
            <a:pPr marL="342900" indent="-342900" algn="just">
              <a:lnSpc>
                <a:spcPts val="34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Machine learning models need a lot of labeled data and usually store it centrally, which can lead to privacy risks</a:t>
            </a:r>
            <a:endParaRPr lang="en-US" dirty="0"/>
          </a:p>
          <a:p>
            <a:pPr marL="342900" indent="-342900" algn="just">
              <a:lnSpc>
                <a:spcPts val="34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Deep learning methods require sharing data for training, which also raises privacy concerns</a:t>
            </a:r>
            <a:endParaRPr lang="en-US" sz="2800" dirty="0">
              <a:latin typeface="Times New Roman" panose="02020603050405020304" pitchFamily="18" charset="0"/>
              <a:cs typeface="Times New Roman" panose="02020603050405020304" pitchFamily="18" charset="0"/>
            </a:endParaRPr>
          </a:p>
          <a:p>
            <a:pPr marL="342900" indent="-342900" algn="just">
              <a:lnSpc>
                <a:spcPts val="34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Existing security systems improves data integrity, but it is slow, uses a lot of computing power, and struggles to scale. These issues make existing solutions inefficient for secure data transmission</a:t>
            </a:r>
            <a:endParaRPr lang="en-IN" sz="2800" dirty="0">
              <a:latin typeface="Times New Roman" panose="02020603050405020304" pitchFamily="18" charset="0"/>
              <a:cs typeface="Times New Roman" panose="02020603050405020304" pitchFamily="18" charset="0"/>
            </a:endParaRPr>
          </a:p>
          <a:p>
            <a:pPr marL="0" indent="0">
              <a:lnSpc>
                <a:spcPts val="3400"/>
              </a:lnSpc>
              <a:buNone/>
            </a:pPr>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p:txBody>
          <a:bodyPr/>
          <a:lstStyle/>
          <a:p>
            <a:pPr algn="ctr"/>
            <a:r>
              <a:rPr lang="en-IN" dirty="0"/>
              <a:t>PROPOSED SYSTEM ARCHITECTURE</a:t>
            </a:r>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pic>
        <p:nvPicPr>
          <p:cNvPr id="17" name="Picture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6501" y="961552"/>
            <a:ext cx="7097917" cy="57599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p:txBody>
          <a:bodyPr/>
          <a:lstStyle/>
          <a:p>
            <a:pPr algn="ctr"/>
            <a:r>
              <a:rPr lang="en-IN" dirty="0"/>
              <a:t>PROPOSED SYSTEM</a:t>
            </a:r>
            <a:endParaRPr lang="en-IN" dirty="0"/>
          </a:p>
        </p:txBody>
      </p:sp>
      <p:sp>
        <p:nvSpPr>
          <p:cNvPr id="1048605" name="Content Placeholder 2"/>
          <p:cNvSpPr>
            <a:spLocks noGrp="1"/>
          </p:cNvSpPr>
          <p:nvPr>
            <p:ph idx="1"/>
          </p:nvPr>
        </p:nvSpPr>
        <p:spPr/>
        <p:txBody>
          <a:bodyPr/>
          <a:lstStyle/>
          <a:p>
            <a:pPr algn="just">
              <a:lnSpc>
                <a:spcPts val="3400"/>
              </a:lnSpc>
            </a:pPr>
            <a:r>
              <a:rPr lang="en-US" sz="2800" dirty="0">
                <a:latin typeface="Times New Roman" panose="02020603050405020304" pitchFamily="18" charset="0"/>
                <a:cs typeface="Times New Roman" panose="02020603050405020304" pitchFamily="18" charset="0"/>
              </a:rPr>
              <a:t>The proposed system integrates Blockchain with Federated Learning to enhance secure data transmission and privacy</a:t>
            </a:r>
            <a:endParaRPr lang="en-US" sz="2800" dirty="0">
              <a:latin typeface="Times New Roman" panose="02020603050405020304" pitchFamily="18" charset="0"/>
              <a:cs typeface="Times New Roman" panose="02020603050405020304" pitchFamily="18" charset="0"/>
            </a:endParaRPr>
          </a:p>
          <a:p>
            <a:pPr algn="just">
              <a:lnSpc>
                <a:spcPts val="3400"/>
              </a:lnSpc>
            </a:pPr>
            <a:r>
              <a:rPr lang="en-US" sz="2800" dirty="0">
                <a:latin typeface="Times New Roman" panose="02020603050405020304" pitchFamily="18" charset="0"/>
                <a:cs typeface="Times New Roman" panose="02020603050405020304" pitchFamily="18" charset="0"/>
              </a:rPr>
              <a:t>Instead of sharing raw data, only model updates (gradients/weights) are exchanged, ensuring better security and efficiency</a:t>
            </a:r>
            <a:endParaRPr lang="en-US" sz="2800" dirty="0">
              <a:latin typeface="Times New Roman" panose="02020603050405020304" pitchFamily="18" charset="0"/>
              <a:cs typeface="Times New Roman" panose="02020603050405020304" pitchFamily="18" charset="0"/>
            </a:endParaRPr>
          </a:p>
          <a:p>
            <a:pPr algn="just">
              <a:lnSpc>
                <a:spcPts val="3400"/>
              </a:lnSpc>
            </a:pPr>
            <a:r>
              <a:rPr lang="en-US" sz="2800" dirty="0">
                <a:latin typeface="Times New Roman" panose="02020603050405020304" pitchFamily="18" charset="0"/>
                <a:cs typeface="Times New Roman" panose="02020603050405020304" pitchFamily="18" charset="0"/>
              </a:rPr>
              <a:t>Blockchain maintains a tamper-proof record of model updates, preventing malicious contributions and ensuring trust</a:t>
            </a:r>
            <a:endParaRPr lang="en-US" sz="2800" dirty="0">
              <a:latin typeface="Times New Roman" panose="02020603050405020304" pitchFamily="18" charset="0"/>
              <a:cs typeface="Times New Roman" panose="02020603050405020304" pitchFamily="18" charset="0"/>
            </a:endParaRPr>
          </a:p>
          <a:p>
            <a:pPr marL="0" indent="0">
              <a:lnSpc>
                <a:spcPts val="3400"/>
              </a:lnSpc>
              <a:buNone/>
            </a:pPr>
            <a:r>
              <a:rPr lang="en-US" sz="2800" b="1" u="sng" dirty="0">
                <a:solidFill>
                  <a:schemeClr val="accent1">
                    <a:lumMod val="75000"/>
                  </a:schemeClr>
                </a:solidFill>
                <a:latin typeface="Times New Roman" panose="02020603050405020304" pitchFamily="18" charset="0"/>
                <a:cs typeface="Times New Roman" panose="02020603050405020304" pitchFamily="18" charset="0"/>
              </a:rPr>
              <a:t>Advantages:</a:t>
            </a:r>
            <a:endParaRPr lang="en-US" sz="2800" b="1" u="sng" dirty="0">
              <a:solidFill>
                <a:schemeClr val="accent1">
                  <a:lumMod val="75000"/>
                </a:schemeClr>
              </a:solidFill>
              <a:latin typeface="Times New Roman" panose="02020603050405020304" pitchFamily="18" charset="0"/>
              <a:cs typeface="Times New Roman" panose="02020603050405020304" pitchFamily="18" charset="0"/>
            </a:endParaRPr>
          </a:p>
          <a:p>
            <a:pPr marL="342900" indent="-342900">
              <a:lnSpc>
                <a:spcPts val="34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Decentralized &amp; Secure – Blockchain prevents unauthorized access and tampering</a:t>
            </a:r>
            <a:endParaRPr lang="en-US" sz="2800" dirty="0">
              <a:latin typeface="Times New Roman" panose="02020603050405020304" pitchFamily="18" charset="0"/>
              <a:cs typeface="Times New Roman" panose="02020603050405020304" pitchFamily="18" charset="0"/>
            </a:endParaRPr>
          </a:p>
          <a:p>
            <a:pPr marL="342900" indent="-342900">
              <a:lnSpc>
                <a:spcPts val="34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Privacy-Preserving – Federated Learning ensures data remains local</a:t>
            </a:r>
            <a:endParaRPr lang="en-US" sz="2800" dirty="0">
              <a:latin typeface="Times New Roman" panose="02020603050405020304" pitchFamily="18" charset="0"/>
              <a:cs typeface="Times New Roman" panose="02020603050405020304" pitchFamily="18" charset="0"/>
            </a:endParaRPr>
          </a:p>
          <a:p>
            <a:pPr marL="342900" indent="-342900">
              <a:lnSpc>
                <a:spcPts val="34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Efficient &amp; Scalable – Reduces computation and communication overhead</a:t>
            </a:r>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Dataset Preprocessing</a:t>
            </a:r>
            <a:endParaRPr lang="en-IN" dirty="0"/>
          </a:p>
        </p:txBody>
      </p:sp>
      <p:sp>
        <p:nvSpPr>
          <p:cNvPr id="4" name="Content Placeholder 3"/>
          <p:cNvSpPr>
            <a:spLocks noGrp="1"/>
          </p:cNvSpPr>
          <p:nvPr>
            <p:ph idx="1"/>
          </p:nvPr>
        </p:nvSpPr>
        <p:spPr>
          <a:xfrm>
            <a:off x="0" y="1990725"/>
            <a:ext cx="12192000" cy="4476336"/>
          </a:xfrm>
        </p:spPr>
        <p:txBody>
          <a:bodyPr/>
          <a:lstStyle/>
          <a:p>
            <a:pPr>
              <a:lnSpc>
                <a:spcPct val="150000"/>
              </a:lnSpc>
            </a:pPr>
            <a:r>
              <a:rPr lang="en-US" dirty="0"/>
              <a:t>Read all 23 CSV files and stored them in a list for processing.</a:t>
            </a:r>
            <a:endParaRPr lang="en-US" dirty="0"/>
          </a:p>
          <a:p>
            <a:pPr>
              <a:lnSpc>
                <a:spcPct val="150000"/>
              </a:lnSpc>
            </a:pPr>
            <a:r>
              <a:rPr lang="en-US" dirty="0"/>
              <a:t>Ensured all datasets have consistent column names.</a:t>
            </a:r>
            <a:endParaRPr lang="en-US" dirty="0"/>
          </a:p>
          <a:p>
            <a:pPr>
              <a:lnSpc>
                <a:spcPct val="150000"/>
              </a:lnSpc>
            </a:pPr>
            <a:r>
              <a:rPr lang="en-US" dirty="0"/>
              <a:t>Filled or dropped missing values based on importance.</a:t>
            </a:r>
            <a:endParaRPr lang="en-US" dirty="0"/>
          </a:p>
          <a:p>
            <a:pPr>
              <a:lnSpc>
                <a:spcPct val="150000"/>
              </a:lnSpc>
            </a:pPr>
            <a:r>
              <a:rPr lang="en-US" dirty="0"/>
              <a:t>Merged columns to maintain uniformity.</a:t>
            </a:r>
            <a:endParaRPr lang="en-US" dirty="0"/>
          </a:p>
          <a:p>
            <a:pPr>
              <a:lnSpc>
                <a:spcPct val="150000"/>
              </a:lnSpc>
            </a:pPr>
            <a:r>
              <a:rPr lang="en-US" dirty="0"/>
              <a:t>Converted columns to appropriate data types (numeric, categorical, etc.).</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Dataset Preprocessing</a:t>
            </a:r>
            <a:endParaRPr lang="en-IN" dirty="0"/>
          </a:p>
        </p:txBody>
      </p:sp>
      <p:sp>
        <p:nvSpPr>
          <p:cNvPr id="4" name="Content Placeholder 3"/>
          <p:cNvSpPr>
            <a:spLocks noGrp="1"/>
          </p:cNvSpPr>
          <p:nvPr>
            <p:ph idx="1"/>
          </p:nvPr>
        </p:nvSpPr>
        <p:spPr>
          <a:xfrm>
            <a:off x="0" y="1485899"/>
            <a:ext cx="12192000" cy="4981161"/>
          </a:xfrm>
        </p:spPr>
        <p:txBody>
          <a:bodyPr/>
          <a:lstStyle/>
          <a:p>
            <a:pPr>
              <a:lnSpc>
                <a:spcPct val="150000"/>
              </a:lnSpc>
            </a:pPr>
            <a:r>
              <a:rPr lang="en-US" dirty="0"/>
              <a:t>Used SMOT oversampling technique for maintaining balance in the dataset</a:t>
            </a:r>
            <a:endParaRPr lang="en-US" dirty="0"/>
          </a:p>
          <a:p>
            <a:pPr>
              <a:lnSpc>
                <a:spcPct val="150000"/>
              </a:lnSpc>
            </a:pPr>
            <a:r>
              <a:rPr lang="en-US" dirty="0"/>
              <a:t>Dropped duplicate rows to avoid redundant data. </a:t>
            </a:r>
            <a:endParaRPr lang="en-US" dirty="0"/>
          </a:p>
          <a:p>
            <a:pPr>
              <a:lnSpc>
                <a:spcPct val="150000"/>
              </a:lnSpc>
            </a:pPr>
            <a:r>
              <a:rPr lang="en-US" dirty="0"/>
              <a:t>Apply </a:t>
            </a:r>
            <a:r>
              <a:rPr lang="en-US" dirty="0" err="1"/>
              <a:t>MinMaxScaler</a:t>
            </a:r>
            <a:r>
              <a:rPr lang="en-US" dirty="0"/>
              <a:t> for uniform feature scaling and consistency. </a:t>
            </a:r>
            <a:endParaRPr lang="en-US" dirty="0"/>
          </a:p>
          <a:p>
            <a:pPr>
              <a:lnSpc>
                <a:spcPct val="150000"/>
              </a:lnSpc>
            </a:pPr>
            <a:r>
              <a:rPr lang="en-US" dirty="0"/>
              <a:t>Used one-hot encoding and label encoding as required.</a:t>
            </a:r>
            <a:endParaRPr lang="en-US" dirty="0"/>
          </a:p>
          <a:p>
            <a:pPr>
              <a:lnSpc>
                <a:spcPct val="150000"/>
              </a:lnSpc>
            </a:pPr>
            <a:r>
              <a:rPr lang="en-US" dirty="0"/>
              <a:t> Removed irrelevant or highly correlated features. </a:t>
            </a:r>
            <a:endParaRPr lang="en-US" dirty="0"/>
          </a:p>
          <a:p>
            <a:pPr>
              <a:lnSpc>
                <a:spcPct val="150000"/>
              </a:lnSpc>
            </a:pPr>
            <a:r>
              <a:rPr lang="en-US" dirty="0"/>
              <a:t>Store the cleaned datasets as clients.</a:t>
            </a:r>
            <a:endParaRPr lang="en-IN" dirty="0"/>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Blockchain Implementation</a:t>
            </a:r>
            <a:endParaRPr lang="en-IN" dirty="0"/>
          </a:p>
        </p:txBody>
      </p:sp>
      <p:sp>
        <p:nvSpPr>
          <p:cNvPr id="4" name="Content Placeholder 3"/>
          <p:cNvSpPr>
            <a:spLocks noGrp="1"/>
          </p:cNvSpPr>
          <p:nvPr>
            <p:ph idx="1"/>
          </p:nvPr>
        </p:nvSpPr>
        <p:spPr/>
        <p:txBody>
          <a:bodyPr/>
          <a:lstStyle/>
          <a:p>
            <a:endParaRPr lang="en-IN" dirty="0"/>
          </a:p>
          <a:p>
            <a:r>
              <a:rPr lang="en-US" dirty="0"/>
              <a:t>Blockchain is implemented to secure Federated Learning (FL) model updates by ensuring integrity, transparency, and decentralization</a:t>
            </a:r>
            <a:r>
              <a:rPr lang="en-IN" dirty="0"/>
              <a:t>.</a:t>
            </a:r>
            <a:endParaRPr lang="en-IN" dirty="0"/>
          </a:p>
          <a:p>
            <a:endParaRPr lang="en-IN" dirty="0"/>
          </a:p>
          <a:p>
            <a:pPr marL="0" indent="0">
              <a:buNone/>
            </a:pPr>
            <a:r>
              <a:rPr lang="en-IN" b="1" u="sng" dirty="0"/>
              <a:t>1.Setting up the Blockchain Ethereum Network</a:t>
            </a:r>
            <a:endParaRPr lang="en-IN" b="1" u="sng" dirty="0"/>
          </a:p>
          <a:p>
            <a:pPr>
              <a:lnSpc>
                <a:spcPct val="200000"/>
              </a:lnSpc>
            </a:pPr>
            <a:r>
              <a:rPr lang="en-US" dirty="0"/>
              <a:t>I used the Ethereum Blockchain (</a:t>
            </a:r>
            <a:r>
              <a:rPr lang="en-US" dirty="0" err="1"/>
              <a:t>Sepolia</a:t>
            </a:r>
            <a:r>
              <a:rPr lang="en-US" dirty="0"/>
              <a:t> </a:t>
            </a:r>
            <a:r>
              <a:rPr lang="en-US" dirty="0" err="1"/>
              <a:t>Testnet</a:t>
            </a:r>
            <a:r>
              <a:rPr lang="en-US" dirty="0"/>
              <a:t>) to store model update hashes.</a:t>
            </a:r>
            <a:endParaRPr lang="en-US" dirty="0"/>
          </a:p>
          <a:p>
            <a:pPr>
              <a:lnSpc>
                <a:spcPct val="200000"/>
              </a:lnSpc>
            </a:pPr>
            <a:r>
              <a:rPr lang="en-US" dirty="0"/>
              <a:t>Transactions on Ethereum are recorded permanently, ensuring security.</a:t>
            </a:r>
            <a:endParaRPr lang="en-US" dirty="0"/>
          </a:p>
          <a:p>
            <a:pPr>
              <a:lnSpc>
                <a:spcPct val="200000"/>
              </a:lnSpc>
            </a:pPr>
            <a:r>
              <a:rPr lang="en-US" dirty="0"/>
              <a:t>Instead of using real money, I used test tokens from </a:t>
            </a:r>
            <a:r>
              <a:rPr lang="en-US" dirty="0" err="1"/>
              <a:t>Sepolia</a:t>
            </a:r>
            <a:r>
              <a:rPr lang="en-US" dirty="0"/>
              <a:t> </a:t>
            </a:r>
            <a:r>
              <a:rPr lang="en-US" dirty="0" err="1"/>
              <a:t>Testnet</a:t>
            </a:r>
            <a:r>
              <a:rPr lang="en-US" dirty="0"/>
              <a:t>.</a:t>
            </a:r>
            <a:endParaRPr lang="en-IN" dirty="0"/>
          </a:p>
          <a:p>
            <a:pPr marL="0" indent="0">
              <a:buNone/>
            </a:pPr>
            <a:endParaRPr lang="en-IN" b="1" u="sng" dirty="0"/>
          </a:p>
          <a:p>
            <a:pPr marL="0" indent="0">
              <a:buNone/>
            </a:pPr>
            <a:endParaRPr lang="en-IN" b="1" u="sn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Blockchain Implementation</a:t>
            </a:r>
            <a:endParaRPr lang="en-IN" dirty="0"/>
          </a:p>
        </p:txBody>
      </p:sp>
      <p:sp>
        <p:nvSpPr>
          <p:cNvPr id="4" name="Content Placeholder 3"/>
          <p:cNvSpPr>
            <a:spLocks noGrp="1"/>
          </p:cNvSpPr>
          <p:nvPr>
            <p:ph idx="1"/>
          </p:nvPr>
        </p:nvSpPr>
        <p:spPr/>
        <p:txBody>
          <a:bodyPr/>
          <a:lstStyle/>
          <a:p>
            <a:pPr marL="0" indent="0">
              <a:lnSpc>
                <a:spcPct val="100000"/>
              </a:lnSpc>
              <a:buNone/>
            </a:pPr>
            <a:endParaRPr lang="en-US" b="1" u="sng" dirty="0"/>
          </a:p>
          <a:p>
            <a:pPr marL="0" indent="0">
              <a:lnSpc>
                <a:spcPct val="100000"/>
              </a:lnSpc>
              <a:buNone/>
            </a:pPr>
            <a:r>
              <a:rPr lang="en-US" b="1" u="sng" dirty="0"/>
              <a:t>2. Writing a Smart Contract</a:t>
            </a:r>
            <a:endParaRPr lang="en-US" b="1" u="sng" dirty="0"/>
          </a:p>
          <a:p>
            <a:pPr>
              <a:lnSpc>
                <a:spcPct val="100000"/>
              </a:lnSpc>
            </a:pPr>
            <a:r>
              <a:rPr lang="en-US" dirty="0"/>
              <a:t>It is a piece of code that runs on Ethereum and ensures data integrity.</a:t>
            </a:r>
            <a:endParaRPr lang="en-US" dirty="0"/>
          </a:p>
          <a:p>
            <a:pPr>
              <a:lnSpc>
                <a:spcPct val="100000"/>
              </a:lnSpc>
            </a:pPr>
            <a:r>
              <a:rPr lang="en-US" dirty="0"/>
              <a:t>It is used to store and retrieve model update hashes.</a:t>
            </a:r>
            <a:endParaRPr lang="en-US" dirty="0"/>
          </a:p>
          <a:p>
            <a:pPr>
              <a:lnSpc>
                <a:spcPct val="100000"/>
              </a:lnSpc>
            </a:pPr>
            <a:r>
              <a:rPr lang="en-US" dirty="0"/>
              <a:t>The smart contract is written in Solidity and deployed on Ethereum.</a:t>
            </a:r>
            <a:endParaRPr lang="en-US" dirty="0"/>
          </a:p>
          <a:p>
            <a:pPr>
              <a:lnSpc>
                <a:spcPct val="100000"/>
              </a:lnSpc>
            </a:pPr>
            <a:r>
              <a:rPr lang="en-US" dirty="0"/>
              <a:t>Every time a model is updated, the hash is stored using this contract.</a:t>
            </a:r>
            <a:endParaRPr lang="en-US" dirty="0"/>
          </a:p>
          <a:p>
            <a:pPr marL="0" indent="0">
              <a:lnSpc>
                <a:spcPct val="100000"/>
              </a:lnSpc>
              <a:buNone/>
            </a:pPr>
            <a:r>
              <a:rPr lang="en-US" b="1" u="sng" dirty="0"/>
              <a:t>3. Storing Model Updates in IPFS</a:t>
            </a:r>
            <a:endParaRPr lang="en-US" b="1" u="sng" dirty="0"/>
          </a:p>
          <a:p>
            <a:pPr>
              <a:lnSpc>
                <a:spcPct val="100000"/>
              </a:lnSpc>
            </a:pPr>
            <a:r>
              <a:rPr lang="en-US" dirty="0"/>
              <a:t>Since Blockchain storage is expensive, I used IPFS (</a:t>
            </a:r>
            <a:r>
              <a:rPr lang="en-US" dirty="0" err="1"/>
              <a:t>InterPlanetary</a:t>
            </a:r>
            <a:r>
              <a:rPr lang="en-US" dirty="0"/>
              <a:t> File System).</a:t>
            </a:r>
            <a:endParaRPr lang="en-US" dirty="0"/>
          </a:p>
          <a:p>
            <a:pPr>
              <a:lnSpc>
                <a:spcPct val="100000"/>
              </a:lnSpc>
            </a:pPr>
            <a:r>
              <a:rPr lang="en-US" dirty="0"/>
              <a:t>The actual model update is uploaded to IPFS, which generates a unique hash.</a:t>
            </a:r>
            <a:endParaRPr lang="en-US" dirty="0"/>
          </a:p>
          <a:p>
            <a:pPr>
              <a:lnSpc>
                <a:spcPct val="100000"/>
              </a:lnSpc>
            </a:pPr>
            <a:r>
              <a:rPr lang="en-US" dirty="0"/>
              <a:t>Only this hash is stored on Ethereum, keeping storage cost low while ensuring security.</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Blockchain Implementation</a:t>
            </a:r>
            <a:endParaRPr lang="en-IN" dirty="0"/>
          </a:p>
        </p:txBody>
      </p:sp>
      <p:sp>
        <p:nvSpPr>
          <p:cNvPr id="4" name="Content Placeholder 3"/>
          <p:cNvSpPr>
            <a:spLocks noGrp="1"/>
          </p:cNvSpPr>
          <p:nvPr>
            <p:ph idx="1"/>
          </p:nvPr>
        </p:nvSpPr>
        <p:spPr/>
        <p:txBody>
          <a:bodyPr/>
          <a:lstStyle/>
          <a:p>
            <a:pPr marL="0" indent="0">
              <a:buNone/>
            </a:pPr>
            <a:endParaRPr lang="en-US" b="1" u="sng" dirty="0"/>
          </a:p>
          <a:p>
            <a:pPr marL="0" indent="0">
              <a:buNone/>
            </a:pPr>
            <a:r>
              <a:rPr lang="en-US" b="1" u="sng" dirty="0"/>
              <a:t>4. Interacting with Blockchain Using Web3 &amp; Flask</a:t>
            </a:r>
            <a:endParaRPr lang="en-US" b="1" u="sng" dirty="0"/>
          </a:p>
          <a:p>
            <a:r>
              <a:rPr lang="en-US" dirty="0"/>
              <a:t>To make it easier</a:t>
            </a:r>
            <a:r>
              <a:rPr lang="en-US" sz="2400" dirty="0"/>
              <a:t>, I created a Flask API to interact with the Blockchain.</a:t>
            </a:r>
            <a:endParaRPr lang="en-US" sz="2400" dirty="0"/>
          </a:p>
          <a:p>
            <a:r>
              <a:rPr lang="en-US" sz="2400" dirty="0"/>
              <a:t>This API does two main things:</a:t>
            </a:r>
            <a:endParaRPr lang="en-US" sz="2400" dirty="0"/>
          </a:p>
          <a:p>
            <a:pPr marL="914400" lvl="1" indent="-457200">
              <a:buAutoNum type="arabicPeriod"/>
            </a:pPr>
            <a:r>
              <a:rPr lang="en-US" dirty="0"/>
              <a:t>Send an update to Blockchain (store the IPFS hash).</a:t>
            </a:r>
            <a:endParaRPr lang="en-US" dirty="0"/>
          </a:p>
          <a:p>
            <a:pPr marL="457200" lvl="1" indent="0">
              <a:buNone/>
            </a:pPr>
            <a:r>
              <a:rPr lang="en-US" dirty="0"/>
              <a:t>2.   Retrieve stored updates from Blockchain.</a:t>
            </a:r>
            <a:endParaRPr lang="en-US" dirty="0"/>
          </a:p>
        </p:txBody>
      </p:sp>
      <p:sp>
        <p:nvSpPr>
          <p:cNvPr id="5" name="TextBox 4"/>
          <p:cNvSpPr txBox="1"/>
          <p:nvPr/>
        </p:nvSpPr>
        <p:spPr>
          <a:xfrm>
            <a:off x="-1" y="3717235"/>
            <a:ext cx="8867775"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 used Web3.py (a Python library) to communicate with Ethereum.</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p>
        </p:txBody>
      </p:sp>
      <p:sp>
        <p:nvSpPr>
          <p:cNvPr id="7" name="TextBox 6"/>
          <p:cNvSpPr txBox="1"/>
          <p:nvPr/>
        </p:nvSpPr>
        <p:spPr>
          <a:xfrm>
            <a:off x="-2" y="4239778"/>
            <a:ext cx="11172827" cy="2241960"/>
          </a:xfrm>
          <a:prstGeom prst="rect">
            <a:avLst/>
          </a:prstGeom>
          <a:noFill/>
        </p:spPr>
        <p:txBody>
          <a:bodyPr wrap="square" rtlCol="0">
            <a:spAutoFit/>
          </a:bodyPr>
          <a:lstStyle/>
          <a:p>
            <a:pPr>
              <a:lnSpc>
                <a:spcPct val="150000"/>
              </a:lnSpc>
            </a:pPr>
            <a:r>
              <a:rPr lang="en-US" sz="2400" b="1" u="sng" dirty="0">
                <a:latin typeface="Times New Roman" panose="02020603050405020304" pitchFamily="18" charset="0"/>
                <a:cs typeface="Times New Roman" panose="02020603050405020304" pitchFamily="18" charset="0"/>
              </a:rPr>
              <a:t>5.Verifying Transactions on </a:t>
            </a:r>
            <a:r>
              <a:rPr lang="en-US" sz="2400" b="1" u="sng" dirty="0" err="1">
                <a:latin typeface="Times New Roman" panose="02020603050405020304" pitchFamily="18" charset="0"/>
                <a:cs typeface="Times New Roman" panose="02020603050405020304" pitchFamily="18" charset="0"/>
              </a:rPr>
              <a:t>Etherscan</a:t>
            </a:r>
            <a:endParaRPr lang="en-US" sz="2400" b="1" u="sng"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Every time a model update is stored, a transaction is created on Ethereum.</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transaction can be checked on </a:t>
            </a:r>
            <a:r>
              <a:rPr lang="en-US" sz="2400" dirty="0" err="1">
                <a:latin typeface="Times New Roman" panose="02020603050405020304" pitchFamily="18" charset="0"/>
                <a:cs typeface="Times New Roman" panose="02020603050405020304" pitchFamily="18" charset="0"/>
              </a:rPr>
              <a:t>Etherscan</a:t>
            </a:r>
            <a:r>
              <a:rPr lang="en-US" sz="2400" dirty="0">
                <a:latin typeface="Times New Roman" panose="02020603050405020304" pitchFamily="18" charset="0"/>
                <a:cs typeface="Times New Roman" panose="02020603050405020304" pitchFamily="18" charset="0"/>
              </a:rPr>
              <a:t> (a blockchain explorer).</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transaction hash will be entered on </a:t>
            </a:r>
            <a:r>
              <a:rPr lang="en-US" sz="2400" dirty="0" err="1">
                <a:latin typeface="Times New Roman" panose="02020603050405020304" pitchFamily="18" charset="0"/>
                <a:cs typeface="Times New Roman" panose="02020603050405020304" pitchFamily="18" charset="0"/>
              </a:rPr>
              <a:t>sepholia</a:t>
            </a:r>
            <a:r>
              <a:rPr lang="en-US" sz="2400" dirty="0">
                <a:latin typeface="Times New Roman" panose="02020603050405020304" pitchFamily="18" charset="0"/>
                <a:cs typeface="Times New Roman" panose="02020603050405020304" pitchFamily="18" charset="0"/>
              </a:rPr>
              <a:t> website to verify it.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Models Explanation</a:t>
            </a:r>
            <a:endParaRPr lang="en-IN" dirty="0"/>
          </a:p>
        </p:txBody>
      </p:sp>
      <p:sp>
        <p:nvSpPr>
          <p:cNvPr id="4" name="Content Placeholder 3"/>
          <p:cNvSpPr>
            <a:spLocks noGrp="1"/>
          </p:cNvSpPr>
          <p:nvPr>
            <p:ph idx="1"/>
          </p:nvPr>
        </p:nvSpPr>
        <p:spPr/>
        <p:txBody>
          <a:bodyPr/>
          <a:lstStyle/>
          <a:p>
            <a:pPr marL="0" indent="0">
              <a:buNone/>
            </a:pPr>
            <a:r>
              <a:rPr lang="en-IN" dirty="0"/>
              <a:t>   </a:t>
            </a:r>
            <a:r>
              <a:rPr lang="en-IN" b="1" dirty="0"/>
              <a:t>Deep Neural Network:</a:t>
            </a:r>
            <a:endParaRPr lang="en-IN" b="1" dirty="0"/>
          </a:p>
          <a:p>
            <a:pPr marL="0" indent="0">
              <a:buNone/>
            </a:pPr>
            <a:endParaRPr lang="en-IN" b="1" dirty="0"/>
          </a:p>
          <a:p>
            <a:pPr marL="0" indent="0">
              <a:buNone/>
            </a:pPr>
            <a:r>
              <a:rPr lang="en-IN" b="1" dirty="0"/>
              <a:t>	</a:t>
            </a:r>
            <a:endParaRPr lang="en-IN" b="1" dirty="0"/>
          </a:p>
        </p:txBody>
      </p:sp>
      <p:sp>
        <p:nvSpPr>
          <p:cNvPr id="7" name="TextBox 6"/>
          <p:cNvSpPr txBox="1"/>
          <p:nvPr/>
        </p:nvSpPr>
        <p:spPr>
          <a:xfrm>
            <a:off x="881061" y="1752600"/>
            <a:ext cx="8824913"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DNN is a deep learning model with multiple layers of neurons.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layer is fully connected and passes information forward.</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learns complex non-linear relationships in the input features.</a:t>
            </a:r>
            <a:endParaRPr lang="en-IN" sz="24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42887" y="3717235"/>
            <a:ext cx="325278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Working Mechanism:</a:t>
            </a:r>
            <a:endParaRPr lang="en-IN" sz="24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81061" y="4225754"/>
            <a:ext cx="11377614" cy="22419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Each neuron calculates: activation(weight * input + bias)ReLU activation keeps positive values, helping in learning.</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Dropout layers prevent overfitting by randomly disabling neurons during training.</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final sigmoid outputs a value between 0 and 1 interpreted as normal (0) or attack (1).</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Models Explanation</a:t>
            </a:r>
            <a:endParaRPr lang="en-IN" dirty="0"/>
          </a:p>
        </p:txBody>
      </p:sp>
      <p:sp>
        <p:nvSpPr>
          <p:cNvPr id="4" name="Content Placeholder 3"/>
          <p:cNvSpPr>
            <a:spLocks noGrp="1"/>
          </p:cNvSpPr>
          <p:nvPr>
            <p:ph idx="1"/>
          </p:nvPr>
        </p:nvSpPr>
        <p:spPr/>
        <p:txBody>
          <a:bodyPr/>
          <a:lstStyle/>
          <a:p>
            <a:pPr marL="0" indent="0">
              <a:buNone/>
            </a:pPr>
            <a:r>
              <a:rPr lang="en-IN" b="1" dirty="0"/>
              <a:t>  Convolutional Neural Network:</a:t>
            </a:r>
            <a:endParaRPr lang="en-IN" b="1" dirty="0"/>
          </a:p>
        </p:txBody>
      </p:sp>
      <p:sp>
        <p:nvSpPr>
          <p:cNvPr id="5" name="TextBox 4"/>
          <p:cNvSpPr txBox="1"/>
          <p:nvPr/>
        </p:nvSpPr>
        <p:spPr>
          <a:xfrm>
            <a:off x="681037" y="1589038"/>
            <a:ext cx="10320338"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CNN is ideal for pattern recognition in sequences.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Automatically extracts important local patterns.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Commonly used in time-series and network traffic analysis.</a:t>
            </a:r>
            <a:endParaRPr lang="en-IN"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95261" y="3581000"/>
            <a:ext cx="403383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Working Mechanism:</a:t>
            </a:r>
            <a:endParaRPr lang="en-IN"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81037" y="3995274"/>
            <a:ext cx="11315702" cy="27959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 layers slide filters over features to detect local behaviours (like sudden spikes or traffic patterns).</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Pooling reduces dimensionality and retains key </a:t>
            </a:r>
            <a:r>
              <a:rPr lang="en-IN" sz="2400" dirty="0" err="1">
                <a:latin typeface="Times New Roman" panose="02020603050405020304" pitchFamily="18" charset="0"/>
                <a:cs typeface="Times New Roman" panose="02020603050405020304" pitchFamily="18" charset="0"/>
              </a:rPr>
              <a:t>informations</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Flatten converts 2D data to 1D.</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Dense + sigmoid layers make final prediction.</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Models Explanation</a:t>
            </a:r>
            <a:endParaRPr lang="en-IN" dirty="0"/>
          </a:p>
        </p:txBody>
      </p:sp>
      <p:sp>
        <p:nvSpPr>
          <p:cNvPr id="4" name="Content Placeholder 3"/>
          <p:cNvSpPr>
            <a:spLocks noGrp="1"/>
          </p:cNvSpPr>
          <p:nvPr>
            <p:ph idx="1"/>
          </p:nvPr>
        </p:nvSpPr>
        <p:spPr/>
        <p:txBody>
          <a:bodyPr/>
          <a:lstStyle/>
          <a:p>
            <a:pPr marL="0" indent="0">
              <a:buNone/>
            </a:pPr>
            <a:r>
              <a:rPr lang="en-IN" dirty="0"/>
              <a:t>  </a:t>
            </a:r>
            <a:r>
              <a:rPr lang="en-IN" b="1" dirty="0"/>
              <a:t>Logistic Regression:</a:t>
            </a:r>
            <a:endParaRPr lang="en-IN" b="1" dirty="0"/>
          </a:p>
        </p:txBody>
      </p:sp>
      <p:sp>
        <p:nvSpPr>
          <p:cNvPr id="5" name="TextBox 4"/>
          <p:cNvSpPr txBox="1"/>
          <p:nvPr/>
        </p:nvSpPr>
        <p:spPr>
          <a:xfrm>
            <a:off x="595311" y="1598748"/>
            <a:ext cx="9215439"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machine learning algorithm.</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as a baseline model in binary classification tasks.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Interpretable and quick to train.</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9075" y="3571289"/>
            <a:ext cx="3048270"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Working Mechanism:</a:t>
            </a:r>
            <a:endParaRPr lang="en-IN" sz="2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95311" y="4399793"/>
            <a:ext cx="6316986" cy="1687963"/>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Calculates a weighted sum of input features.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Applies sigmoid function to output probability.</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output &gt; 0.5 → attack, Else → normal.</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Accuracy comparison for Local and Global Model</a:t>
            </a:r>
            <a:endParaRPr lang="en-IN" dirty="0"/>
          </a:p>
        </p:txBody>
      </p:sp>
      <p:graphicFrame>
        <p:nvGraphicFramePr>
          <p:cNvPr id="5" name="Content Placeholder 4"/>
          <p:cNvGraphicFramePr>
            <a:graphicFrameLocks noGrp="1"/>
          </p:cNvGraphicFramePr>
          <p:nvPr>
            <p:ph idx="1"/>
          </p:nvPr>
        </p:nvGraphicFramePr>
        <p:xfrm>
          <a:off x="461962" y="1528762"/>
          <a:ext cx="11268075" cy="3639741"/>
        </p:xfrm>
        <a:graphic>
          <a:graphicData uri="http://schemas.openxmlformats.org/drawingml/2006/table">
            <a:tbl>
              <a:tblPr firstRow="1" bandRow="1">
                <a:tableStyleId>{5C22544A-7EE6-4342-B048-85BDC9FD1C3A}</a:tableStyleId>
              </a:tblPr>
              <a:tblGrid>
                <a:gridCol w="1609725"/>
                <a:gridCol w="1609725"/>
                <a:gridCol w="1609725"/>
                <a:gridCol w="1609725"/>
                <a:gridCol w="1609725"/>
                <a:gridCol w="1609725"/>
                <a:gridCol w="1609725"/>
              </a:tblGrid>
              <a:tr h="908447">
                <a:tc>
                  <a:txBody>
                    <a:bodyPr/>
                    <a:lstStyle/>
                    <a:p>
                      <a:pPr algn="ctr"/>
                      <a:r>
                        <a:rPr lang="en-IN" dirty="0"/>
                        <a:t>Model Name</a:t>
                      </a:r>
                      <a:endParaRPr lang="en-IN" dirty="0"/>
                    </a:p>
                  </a:txBody>
                  <a:tcPr anchor="ctr"/>
                </a:tc>
                <a:tc>
                  <a:txBody>
                    <a:bodyPr/>
                    <a:lstStyle/>
                    <a:p>
                      <a:pPr algn="ctr"/>
                      <a:r>
                        <a:rPr lang="en-IN" dirty="0"/>
                        <a:t>Local Model 1  Accuracy</a:t>
                      </a:r>
                      <a:endParaRPr lang="en-IN" dirty="0"/>
                    </a:p>
                  </a:txBody>
                  <a:tcPr anchor="ctr"/>
                </a:tc>
                <a:tc>
                  <a:txBody>
                    <a:bodyPr/>
                    <a:lstStyle/>
                    <a:p>
                      <a:pPr algn="ctr"/>
                      <a:r>
                        <a:rPr lang="en-IN" dirty="0"/>
                        <a:t>Local Model 2 Accuracy</a:t>
                      </a:r>
                      <a:endParaRPr lang="en-IN" dirty="0"/>
                    </a:p>
                  </a:txBody>
                  <a:tcPr anchor="ctr"/>
                </a:tc>
                <a:tc>
                  <a:txBody>
                    <a:bodyPr/>
                    <a:lstStyle/>
                    <a:p>
                      <a:pPr algn="ctr"/>
                      <a:r>
                        <a:rPr lang="en-IN" dirty="0"/>
                        <a:t>Local Model 3 Accuracy</a:t>
                      </a:r>
                      <a:endParaRPr lang="en-IN" dirty="0"/>
                    </a:p>
                  </a:txBody>
                  <a:tcPr anchor="ctr"/>
                </a:tc>
                <a:tc>
                  <a:txBody>
                    <a:bodyPr/>
                    <a:lstStyle/>
                    <a:p>
                      <a:pPr algn="ctr"/>
                      <a:r>
                        <a:rPr lang="en-IN" dirty="0"/>
                        <a:t>Local Model 4 Accuracy</a:t>
                      </a:r>
                      <a:endParaRPr lang="en-IN" dirty="0"/>
                    </a:p>
                  </a:txBody>
                  <a:tcPr anchor="ctr"/>
                </a:tc>
                <a:tc>
                  <a:txBody>
                    <a:bodyPr/>
                    <a:lstStyle/>
                    <a:p>
                      <a:pPr algn="ctr"/>
                      <a:r>
                        <a:rPr lang="en-IN" dirty="0"/>
                        <a:t>Average Local Model Accuracy</a:t>
                      </a:r>
                      <a:endParaRPr lang="en-IN" dirty="0"/>
                    </a:p>
                  </a:txBody>
                  <a:tcPr anchor="ctr"/>
                </a:tc>
                <a:tc>
                  <a:txBody>
                    <a:bodyPr/>
                    <a:lstStyle/>
                    <a:p>
                      <a:pPr algn="ctr"/>
                      <a:r>
                        <a:rPr lang="en-IN" dirty="0"/>
                        <a:t>Global Model Accuracy</a:t>
                      </a:r>
                      <a:endParaRPr lang="en-IN" dirty="0"/>
                    </a:p>
                  </a:txBody>
                  <a:tcPr anchor="ctr"/>
                </a:tc>
              </a:tr>
              <a:tr h="908447">
                <a:tc>
                  <a:txBody>
                    <a:bodyPr/>
                    <a:lstStyle/>
                    <a:p>
                      <a:pPr algn="ctr"/>
                      <a:r>
                        <a:rPr lang="en-IN" dirty="0"/>
                        <a:t>DNN</a:t>
                      </a:r>
                      <a:endParaRPr lang="en-IN" dirty="0"/>
                    </a:p>
                  </a:txBody>
                  <a:tcPr anchor="ctr"/>
                </a:tc>
                <a:tc>
                  <a:txBody>
                    <a:bodyPr/>
                    <a:lstStyle/>
                    <a:p>
                      <a:pPr algn="ctr"/>
                      <a:r>
                        <a:rPr lang="en-IN" dirty="0"/>
                        <a:t>97.81</a:t>
                      </a:r>
                      <a:endParaRPr lang="en-IN" dirty="0"/>
                    </a:p>
                  </a:txBody>
                  <a:tcPr anchor="ctr"/>
                </a:tc>
                <a:tc>
                  <a:txBody>
                    <a:bodyPr/>
                    <a:lstStyle/>
                    <a:p>
                      <a:pPr algn="ctr"/>
                      <a:r>
                        <a:rPr lang="en-IN" dirty="0"/>
                        <a:t>98.19</a:t>
                      </a:r>
                      <a:endParaRPr lang="en-IN" dirty="0"/>
                    </a:p>
                  </a:txBody>
                  <a:tcPr anchor="ctr"/>
                </a:tc>
                <a:tc>
                  <a:txBody>
                    <a:bodyPr/>
                    <a:lstStyle/>
                    <a:p>
                      <a:pPr algn="ctr"/>
                      <a:r>
                        <a:rPr lang="en-IN" dirty="0"/>
                        <a:t>97.99</a:t>
                      </a:r>
                      <a:endParaRPr lang="en-IN" dirty="0"/>
                    </a:p>
                  </a:txBody>
                  <a:tcPr anchor="ctr"/>
                </a:tc>
                <a:tc>
                  <a:txBody>
                    <a:bodyPr/>
                    <a:lstStyle/>
                    <a:p>
                      <a:pPr algn="ctr"/>
                      <a:r>
                        <a:rPr lang="en-IN" dirty="0"/>
                        <a:t>97.03</a:t>
                      </a:r>
                      <a:endParaRPr lang="en-IN" dirty="0"/>
                    </a:p>
                  </a:txBody>
                  <a:tcPr anchor="ctr"/>
                </a:tc>
                <a:tc>
                  <a:txBody>
                    <a:bodyPr/>
                    <a:lstStyle/>
                    <a:p>
                      <a:pPr algn="ctr"/>
                      <a:r>
                        <a:rPr lang="en-IN" dirty="0"/>
                        <a:t>97.75</a:t>
                      </a:r>
                      <a:endParaRPr lang="en-IN" dirty="0"/>
                    </a:p>
                  </a:txBody>
                  <a:tcPr anchor="ctr"/>
                </a:tc>
                <a:tc>
                  <a:txBody>
                    <a:bodyPr/>
                    <a:lstStyle/>
                    <a:p>
                      <a:pPr algn="ctr"/>
                      <a:r>
                        <a:rPr lang="en-IN" dirty="0"/>
                        <a:t>95.04</a:t>
                      </a:r>
                      <a:endParaRPr lang="en-IN" dirty="0"/>
                    </a:p>
                  </a:txBody>
                  <a:tcPr anchor="ctr"/>
                </a:tc>
              </a:tr>
              <a:tr h="908447">
                <a:tc>
                  <a:txBody>
                    <a:bodyPr/>
                    <a:lstStyle/>
                    <a:p>
                      <a:pPr algn="ctr"/>
                      <a:r>
                        <a:rPr lang="en-IN" dirty="0"/>
                        <a:t>CNN</a:t>
                      </a:r>
                      <a:endParaRPr lang="en-IN" dirty="0"/>
                    </a:p>
                  </a:txBody>
                  <a:tcPr anchor="ctr"/>
                </a:tc>
                <a:tc>
                  <a:txBody>
                    <a:bodyPr/>
                    <a:lstStyle/>
                    <a:p>
                      <a:pPr algn="ctr"/>
                      <a:r>
                        <a:rPr lang="en-IN" dirty="0"/>
                        <a:t>97.43</a:t>
                      </a:r>
                      <a:endParaRPr lang="en-IN" dirty="0"/>
                    </a:p>
                  </a:txBody>
                  <a:tcPr anchor="ctr"/>
                </a:tc>
                <a:tc>
                  <a:txBody>
                    <a:bodyPr/>
                    <a:lstStyle/>
                    <a:p>
                      <a:pPr algn="ctr"/>
                      <a:r>
                        <a:rPr lang="en-IN" dirty="0"/>
                        <a:t>97.18</a:t>
                      </a:r>
                      <a:endParaRPr lang="en-IN" dirty="0"/>
                    </a:p>
                  </a:txBody>
                  <a:tcPr anchor="ctr"/>
                </a:tc>
                <a:tc>
                  <a:txBody>
                    <a:bodyPr/>
                    <a:lstStyle/>
                    <a:p>
                      <a:pPr algn="ctr"/>
                      <a:r>
                        <a:rPr lang="en-IN" dirty="0"/>
                        <a:t>97.06</a:t>
                      </a:r>
                      <a:endParaRPr lang="en-IN" dirty="0"/>
                    </a:p>
                  </a:txBody>
                  <a:tcPr anchor="ctr"/>
                </a:tc>
                <a:tc>
                  <a:txBody>
                    <a:bodyPr/>
                    <a:lstStyle/>
                    <a:p>
                      <a:pPr algn="ctr"/>
                      <a:r>
                        <a:rPr lang="en-IN" dirty="0"/>
                        <a:t>95.95</a:t>
                      </a:r>
                      <a:endParaRPr lang="en-IN" dirty="0"/>
                    </a:p>
                  </a:txBody>
                  <a:tcPr anchor="ctr"/>
                </a:tc>
                <a:tc>
                  <a:txBody>
                    <a:bodyPr/>
                    <a:lstStyle/>
                    <a:p>
                      <a:pPr algn="ctr"/>
                      <a:r>
                        <a:rPr lang="en-IN" dirty="0"/>
                        <a:t>96.90</a:t>
                      </a:r>
                      <a:endParaRPr lang="en-IN" dirty="0"/>
                    </a:p>
                  </a:txBody>
                  <a:tcPr anchor="ctr"/>
                </a:tc>
                <a:tc>
                  <a:txBody>
                    <a:bodyPr/>
                    <a:lstStyle/>
                    <a:p>
                      <a:pPr algn="ctr"/>
                      <a:r>
                        <a:rPr lang="en-IN" dirty="0"/>
                        <a:t>93.97</a:t>
                      </a:r>
                      <a:endParaRPr lang="en-IN" dirty="0"/>
                    </a:p>
                  </a:txBody>
                  <a:tcPr anchor="ctr"/>
                </a:tc>
              </a:tr>
              <a:tr h="908447">
                <a:tc>
                  <a:txBody>
                    <a:bodyPr/>
                    <a:lstStyle/>
                    <a:p>
                      <a:pPr algn="ctr"/>
                      <a:r>
                        <a:rPr lang="en-IN" dirty="0"/>
                        <a:t>LR</a:t>
                      </a:r>
                      <a:endParaRPr lang="en-IN" dirty="0"/>
                    </a:p>
                  </a:txBody>
                  <a:tcPr anchor="ctr"/>
                </a:tc>
                <a:tc>
                  <a:txBody>
                    <a:bodyPr/>
                    <a:lstStyle/>
                    <a:p>
                      <a:pPr algn="ctr"/>
                      <a:r>
                        <a:rPr lang="en-IN" dirty="0"/>
                        <a:t>88.19</a:t>
                      </a:r>
                      <a:endParaRPr lang="en-IN" dirty="0"/>
                    </a:p>
                  </a:txBody>
                  <a:tcPr anchor="ctr"/>
                </a:tc>
                <a:tc>
                  <a:txBody>
                    <a:bodyPr/>
                    <a:lstStyle/>
                    <a:p>
                      <a:pPr algn="ctr"/>
                      <a:r>
                        <a:rPr lang="en-IN" dirty="0"/>
                        <a:t>87.88</a:t>
                      </a:r>
                      <a:endParaRPr lang="en-IN" dirty="0"/>
                    </a:p>
                  </a:txBody>
                  <a:tcPr anchor="ctr"/>
                </a:tc>
                <a:tc>
                  <a:txBody>
                    <a:bodyPr/>
                    <a:lstStyle/>
                    <a:p>
                      <a:pPr algn="ctr"/>
                      <a:r>
                        <a:rPr lang="en-IN" dirty="0"/>
                        <a:t>88.24</a:t>
                      </a:r>
                      <a:endParaRPr lang="en-IN" dirty="0"/>
                    </a:p>
                  </a:txBody>
                  <a:tcPr anchor="ctr"/>
                </a:tc>
                <a:tc>
                  <a:txBody>
                    <a:bodyPr/>
                    <a:lstStyle/>
                    <a:p>
                      <a:pPr algn="ctr"/>
                      <a:r>
                        <a:rPr lang="en-IN" dirty="0"/>
                        <a:t>88.02</a:t>
                      </a:r>
                      <a:endParaRPr lang="en-IN" dirty="0"/>
                    </a:p>
                  </a:txBody>
                  <a:tcPr anchor="ctr"/>
                </a:tc>
                <a:tc>
                  <a:txBody>
                    <a:bodyPr/>
                    <a:lstStyle/>
                    <a:p>
                      <a:pPr algn="ctr"/>
                      <a:r>
                        <a:rPr lang="en-IN" dirty="0"/>
                        <a:t>88.08</a:t>
                      </a:r>
                      <a:endParaRPr lang="en-IN" dirty="0"/>
                    </a:p>
                  </a:txBody>
                  <a:tcPr anchor="ctr"/>
                </a:tc>
                <a:tc>
                  <a:txBody>
                    <a:bodyPr/>
                    <a:lstStyle/>
                    <a:p>
                      <a:pPr algn="ctr"/>
                      <a:r>
                        <a:rPr lang="en-IN" dirty="0"/>
                        <a:t>87.71</a:t>
                      </a:r>
                      <a:endParaRPr lang="en-IN" dirty="0"/>
                    </a:p>
                  </a:txBody>
                  <a:tcPr anchor="ctr"/>
                </a:tc>
              </a:tr>
            </a:tbl>
          </a:graphicData>
        </a:graphic>
      </p:graphicFrame>
      <p:sp>
        <p:nvSpPr>
          <p:cNvPr id="6" name="TextBox 5"/>
          <p:cNvSpPr txBox="1"/>
          <p:nvPr/>
        </p:nvSpPr>
        <p:spPr>
          <a:xfrm>
            <a:off x="461962" y="5329238"/>
            <a:ext cx="11320984"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Given its superior performance over the other two models, the Deep Neural Network(DNN) was chosen for Blockchain </a:t>
            </a: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Integration to enhance security and reliability</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Model Accuracy Comparison</a:t>
            </a:r>
            <a:endParaRPr lang="en-IN" dirty="0"/>
          </a:p>
        </p:txBody>
      </p:sp>
      <p:graphicFrame>
        <p:nvGraphicFramePr>
          <p:cNvPr id="20" name="Content Placeholder 19"/>
          <p:cNvGraphicFramePr>
            <a:graphicFrameLocks noGrp="1"/>
          </p:cNvGraphicFramePr>
          <p:nvPr>
            <p:ph idx="1"/>
          </p:nvPr>
        </p:nvGraphicFramePr>
        <p:xfrm>
          <a:off x="400050" y="1235075"/>
          <a:ext cx="11791950" cy="54864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Results</a:t>
            </a:r>
            <a:endParaRPr lang="en-IN" dirty="0"/>
          </a:p>
        </p:txBody>
      </p:sp>
      <p:pic>
        <p:nvPicPr>
          <p:cNvPr id="6"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r="52261"/>
          <a:stretch>
            <a:fillRect/>
          </a:stretch>
        </p:blipFill>
        <p:spPr>
          <a:xfrm>
            <a:off x="646792" y="1719263"/>
            <a:ext cx="4128801" cy="4033837"/>
          </a:xfr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rcRect l="1250" r="57656"/>
          <a:stretch>
            <a:fillRect/>
          </a:stretch>
        </p:blipFill>
        <p:spPr>
          <a:xfrm>
            <a:off x="6535058" y="1719263"/>
            <a:ext cx="4818742" cy="4033837"/>
          </a:xfrm>
          <a:prstGeom prst="rect">
            <a:avLst/>
          </a:prstGeom>
        </p:spPr>
      </p:pic>
      <p:sp>
        <p:nvSpPr>
          <p:cNvPr id="9" name="TextBox 8"/>
          <p:cNvSpPr txBox="1"/>
          <p:nvPr/>
        </p:nvSpPr>
        <p:spPr>
          <a:xfrm>
            <a:off x="1067120" y="5973286"/>
            <a:ext cx="328814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DNN Accuracy for Global Model</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218336" y="5964872"/>
            <a:ext cx="544899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Blockchain Integrated DNN Accuracy for Global Model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6B527F4-FB77-4950-8E80-34B52BECEF05}" type="slidenum">
              <a:rPr lang="en-US" smtClean="0"/>
            </a:fld>
            <a:endParaRPr lang="en-US"/>
          </a:p>
        </p:txBody>
      </p:sp>
      <p:sp>
        <p:nvSpPr>
          <p:cNvPr id="3" name="Title 2"/>
          <p:cNvSpPr>
            <a:spLocks noGrp="1"/>
          </p:cNvSpPr>
          <p:nvPr>
            <p:ph type="title"/>
          </p:nvPr>
        </p:nvSpPr>
        <p:spPr/>
        <p:txBody>
          <a:bodyPr/>
          <a:lstStyle/>
          <a:p>
            <a:r>
              <a:rPr lang="en-IN" dirty="0"/>
              <a:t>Results</a:t>
            </a:r>
            <a:endParaRPr lang="en-IN" dirty="0"/>
          </a:p>
        </p:txBody>
      </p:sp>
      <p:pic>
        <p:nvPicPr>
          <p:cNvPr id="6"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rcRect r="19223"/>
          <a:stretch>
            <a:fillRect/>
          </a:stretch>
        </p:blipFill>
        <p:spPr>
          <a:xfrm>
            <a:off x="497325" y="1600201"/>
            <a:ext cx="4836675" cy="4324349"/>
          </a:xfr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rcRect l="907" r="32561" b="5555"/>
          <a:stretch>
            <a:fillRect/>
          </a:stretch>
        </p:blipFill>
        <p:spPr>
          <a:xfrm>
            <a:off x="6771132" y="1600201"/>
            <a:ext cx="4836675" cy="4324349"/>
          </a:xfrm>
          <a:prstGeom prst="rect">
            <a:avLst/>
          </a:prstGeom>
        </p:spPr>
      </p:pic>
      <p:sp>
        <p:nvSpPr>
          <p:cNvPr id="10" name="TextBox 9"/>
          <p:cNvSpPr txBox="1"/>
          <p:nvPr/>
        </p:nvSpPr>
        <p:spPr>
          <a:xfrm>
            <a:off x="1337848" y="6169580"/>
            <a:ext cx="327532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CNN Accuracy for Global Model</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7913924" y="6199226"/>
            <a:ext cx="30829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LR Accuracy for Global Model</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lstStyle/>
          <a:p>
            <a:pPr algn="ctr"/>
            <a:r>
              <a:rPr lang="en-IN" dirty="0"/>
              <a:t>                CONCLUSION</a:t>
            </a:r>
            <a:endParaRPr lang="en-IN" dirty="0"/>
          </a:p>
        </p:txBody>
      </p:sp>
      <p:sp>
        <p:nvSpPr>
          <p:cNvPr id="1048608" name="Content Placeholder 2"/>
          <p:cNvSpPr>
            <a:spLocks noGrp="1"/>
          </p:cNvSpPr>
          <p:nvPr>
            <p:ph idx="1"/>
          </p:nvPr>
        </p:nvSpPr>
        <p:spPr>
          <a:xfrm>
            <a:off x="120869" y="1442545"/>
            <a:ext cx="11766331" cy="4464840"/>
          </a:xfrm>
        </p:spPr>
        <p:txBody>
          <a:bodyPr/>
          <a:lstStyle/>
          <a:p>
            <a:pPr marL="0" indent="0" algn="just">
              <a:lnSpc>
                <a:spcPct val="150000"/>
              </a:lnSpc>
              <a:buNone/>
            </a:pPr>
            <a:r>
              <a:rPr lang="en-US" sz="2800" dirty="0">
                <a:latin typeface="Times New Roman" panose="02020603050405020304" pitchFamily="18" charset="0"/>
                <a:cs typeface="Times New Roman" panose="02020603050405020304" pitchFamily="18" charset="0"/>
              </a:rPr>
              <a:t>In this project, I implemented a secure and efficient attack detection system using Federated Learning with Deep Neural Networks, CNN, and Logistic Regression. I trained multiple local models on separate datasets and aggregated them to form a global model. I integrated Blockchain to store and retrieve model updates securely using IPFS and a smart contract. Additionally, I built a web-based UI for uploading CSV files, predicting attacks, and securely transmitting only the normal data with features like encryption and user authentication.</a:t>
            </a:r>
            <a:endParaRPr lang="en-US" sz="2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2800" dirty="0">
              <a:latin typeface="Times New Roman" panose="02020603050405020304" pitchFamily="18" charset="0"/>
              <a:cs typeface="Times New Roman" panose="02020603050405020304" pitchFamily="18" charset="0"/>
            </a:endParaRPr>
          </a:p>
          <a:p>
            <a:pPr marL="0" indent="0">
              <a:lnSpc>
                <a:spcPct val="150000"/>
              </a:lnSpc>
              <a:buNone/>
            </a:pPr>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p:txBody>
          <a:bodyPr/>
          <a:lstStyle/>
          <a:p>
            <a:pPr algn="ctr"/>
            <a:r>
              <a:rPr lang="en-IN" dirty="0"/>
              <a:t>REFERENCES</a:t>
            </a:r>
            <a:endParaRPr lang="en-IN" dirty="0"/>
          </a:p>
        </p:txBody>
      </p:sp>
      <p:sp>
        <p:nvSpPr>
          <p:cNvPr id="1048610" name="Content Placeholder 2"/>
          <p:cNvSpPr>
            <a:spLocks noGrp="1"/>
          </p:cNvSpPr>
          <p:nvPr>
            <p:ph idx="1"/>
          </p:nvPr>
        </p:nvSpPr>
        <p:spPr>
          <a:xfrm>
            <a:off x="141890" y="1040523"/>
            <a:ext cx="12050110" cy="5817476"/>
          </a:xfrm>
        </p:spPr>
        <p:txBody>
          <a:bodyPr/>
          <a:lstStyle/>
          <a:p>
            <a:pPr marL="0" indent="0" algn="just">
              <a:lnSpc>
                <a:spcPts val="2900"/>
              </a:lnSpc>
              <a:buNone/>
            </a:pPr>
            <a:r>
              <a:rPr lang="en-IN" dirty="0">
                <a:latin typeface="Times New Roman" panose="02020603050405020304" pitchFamily="18" charset="0"/>
                <a:cs typeface="Times New Roman" panose="02020603050405020304" pitchFamily="18" charset="0"/>
              </a:rPr>
              <a:t>[1] Archana D. </a:t>
            </a:r>
            <a:r>
              <a:rPr lang="en-IN" dirty="0" err="1">
                <a:latin typeface="Times New Roman" panose="02020603050405020304" pitchFamily="18" charset="0"/>
                <a:cs typeface="Times New Roman" panose="02020603050405020304" pitchFamily="18" charset="0"/>
              </a:rPr>
              <a:t>Wankhade</a:t>
            </a:r>
            <a:r>
              <a:rPr lang="en-IN" dirty="0">
                <a:latin typeface="Times New Roman" panose="02020603050405020304" pitchFamily="18" charset="0"/>
                <a:cs typeface="Times New Roman" panose="02020603050405020304" pitchFamily="18" charset="0"/>
              </a:rPr>
              <a:t>, Kishor P. </a:t>
            </a:r>
            <a:r>
              <a:rPr lang="en-IN" dirty="0" err="1">
                <a:latin typeface="Times New Roman" panose="02020603050405020304" pitchFamily="18" charset="0"/>
                <a:cs typeface="Times New Roman" panose="02020603050405020304" pitchFamily="18" charset="0"/>
              </a:rPr>
              <a:t>Wagh</a:t>
            </a:r>
            <a:r>
              <a:rPr lang="en-IN" dirty="0">
                <a:latin typeface="Times New Roman" panose="02020603050405020304" pitchFamily="18" charset="0"/>
                <a:cs typeface="Times New Roman" panose="02020603050405020304" pitchFamily="18" charset="0"/>
              </a:rPr>
              <a:t> - Implementation of Attack Detection and Mitigation for Securing Cloud-Based IoT Network Journal of Theoretical and Applied Information Technology, Vol. 102, No. 9, 2024</a:t>
            </a:r>
            <a:endParaRPr lang="en-IN" dirty="0">
              <a:latin typeface="Times New Roman" panose="02020603050405020304" pitchFamily="18" charset="0"/>
              <a:cs typeface="Times New Roman" panose="02020603050405020304" pitchFamily="18" charset="0"/>
            </a:endParaRPr>
          </a:p>
          <a:p>
            <a:pPr marL="0" indent="0" algn="just">
              <a:lnSpc>
                <a:spcPts val="2900"/>
              </a:lnSpc>
              <a:buNone/>
            </a:pPr>
            <a:r>
              <a:rPr lang="en-IN" dirty="0">
                <a:latin typeface="Times New Roman" panose="02020603050405020304" pitchFamily="18" charset="0"/>
                <a:cs typeface="Times New Roman" panose="02020603050405020304" pitchFamily="18" charset="0"/>
              </a:rPr>
              <a:t>[2] Maryam </a:t>
            </a:r>
            <a:r>
              <a:rPr lang="en-IN" dirty="0" err="1">
                <a:latin typeface="Times New Roman" panose="02020603050405020304" pitchFamily="18" charset="0"/>
                <a:cs typeface="Times New Roman" panose="02020603050405020304" pitchFamily="18" charset="0"/>
              </a:rPr>
              <a:t>Anwer</a:t>
            </a:r>
            <a:r>
              <a:rPr lang="en-IN" dirty="0">
                <a:latin typeface="Times New Roman" panose="02020603050405020304" pitchFamily="18" charset="0"/>
                <a:cs typeface="Times New Roman" panose="02020603050405020304" pitchFamily="18" charset="0"/>
              </a:rPr>
              <a:t>, Muhammad Umer Farooq, Shariq Mahmood Khan, </a:t>
            </a:r>
            <a:r>
              <a:rPr lang="en-IN" dirty="0" err="1">
                <a:latin typeface="Times New Roman" panose="02020603050405020304" pitchFamily="18" charset="0"/>
                <a:cs typeface="Times New Roman" panose="02020603050405020304" pitchFamily="18" charset="0"/>
              </a:rPr>
              <a:t>Waseemullah</a:t>
            </a:r>
            <a:r>
              <a:rPr lang="en-IN" dirty="0">
                <a:latin typeface="Times New Roman" panose="02020603050405020304" pitchFamily="18" charset="0"/>
                <a:cs typeface="Times New Roman" panose="02020603050405020304" pitchFamily="18" charset="0"/>
              </a:rPr>
              <a:t> - Attack Detection in IoT Using Machine Learning Engineering, Technology &amp; Applied Science Research, Vol. 11, No. 3, 2021</a:t>
            </a:r>
            <a:endParaRPr lang="en-IN" dirty="0">
              <a:latin typeface="Times New Roman" panose="02020603050405020304" pitchFamily="18" charset="0"/>
              <a:cs typeface="Times New Roman" panose="02020603050405020304" pitchFamily="18" charset="0"/>
            </a:endParaRPr>
          </a:p>
          <a:p>
            <a:pPr marL="0" indent="0" algn="just">
              <a:lnSpc>
                <a:spcPts val="2900"/>
              </a:lnSpc>
              <a:buNone/>
            </a:pPr>
            <a:r>
              <a:rPr lang="en-IN" dirty="0">
                <a:latin typeface="Times New Roman" panose="02020603050405020304" pitchFamily="18" charset="0"/>
                <a:cs typeface="Times New Roman" panose="02020603050405020304" pitchFamily="18" charset="0"/>
              </a:rPr>
              <a:t>[3] Zhiqiang Feng - IoT Data Sharing Technology Based on Blockchain and Federated Learning Algorithms Intelligent Systems with Applications, Vol. 22, 2024</a:t>
            </a:r>
            <a:endParaRPr lang="en-IN" dirty="0">
              <a:latin typeface="Times New Roman" panose="02020603050405020304" pitchFamily="18" charset="0"/>
              <a:cs typeface="Times New Roman" panose="02020603050405020304" pitchFamily="18" charset="0"/>
            </a:endParaRPr>
          </a:p>
          <a:p>
            <a:pPr marL="0" indent="0" algn="just">
              <a:lnSpc>
                <a:spcPts val="2900"/>
              </a:lnSpc>
              <a:buNone/>
            </a:pPr>
            <a:r>
              <a:rPr lang="en-IN" dirty="0">
                <a:latin typeface="Times New Roman" panose="02020603050405020304" pitchFamily="18" charset="0"/>
                <a:cs typeface="Times New Roman" panose="02020603050405020304" pitchFamily="18" charset="0"/>
              </a:rPr>
              <a:t>[4] Hui Chen, </a:t>
            </a:r>
            <a:r>
              <a:rPr lang="en-IN" dirty="0" err="1">
                <a:latin typeface="Times New Roman" panose="02020603050405020304" pitchFamily="18" charset="0"/>
                <a:cs typeface="Times New Roman" panose="02020603050405020304" pitchFamily="18" charset="0"/>
              </a:rPr>
              <a:t>Zhendong</a:t>
            </a:r>
            <a:r>
              <a:rPr lang="en-IN" dirty="0">
                <a:latin typeface="Times New Roman" panose="02020603050405020304" pitchFamily="18" charset="0"/>
                <a:cs typeface="Times New Roman" panose="02020603050405020304" pitchFamily="18" charset="0"/>
              </a:rPr>
              <a:t> Wang, </a:t>
            </a:r>
            <a:r>
              <a:rPr lang="en-IN" dirty="0" err="1">
                <a:latin typeface="Times New Roman" panose="02020603050405020304" pitchFamily="18" charset="0"/>
                <a:cs typeface="Times New Roman" panose="02020603050405020304" pitchFamily="18" charset="0"/>
              </a:rPr>
              <a:t>Shuxin</a:t>
            </a:r>
            <a:r>
              <a:rPr lang="en-IN" dirty="0">
                <a:latin typeface="Times New Roman" panose="02020603050405020304" pitchFamily="18" charset="0"/>
                <a:cs typeface="Times New Roman" panose="02020603050405020304" pitchFamily="18" charset="0"/>
              </a:rPr>
              <a:t> Yang, Xiao Luo, </a:t>
            </a:r>
            <a:r>
              <a:rPr lang="en-IN" dirty="0" err="1">
                <a:latin typeface="Times New Roman" panose="02020603050405020304" pitchFamily="18" charset="0"/>
                <a:cs typeface="Times New Roman" panose="02020603050405020304" pitchFamily="18" charset="0"/>
              </a:rPr>
              <a:t>Daojing</a:t>
            </a:r>
            <a:r>
              <a:rPr lang="en-IN" dirty="0">
                <a:latin typeface="Times New Roman" panose="02020603050405020304" pitchFamily="18" charset="0"/>
                <a:cs typeface="Times New Roman" panose="02020603050405020304" pitchFamily="18" charset="0"/>
              </a:rPr>
              <a:t> He, Sammy Chan - Intrusion Detection Using Synaptic Intelligent Convolutional Neural Networks for Dynamic IoT Environments Alexandria Engineering Journal, Vol. 111, 2025</a:t>
            </a:r>
            <a:endParaRPr lang="en-IN" dirty="0">
              <a:latin typeface="Times New Roman" panose="02020603050405020304" pitchFamily="18" charset="0"/>
              <a:cs typeface="Times New Roman" panose="02020603050405020304" pitchFamily="18" charset="0"/>
            </a:endParaRPr>
          </a:p>
          <a:p>
            <a:pPr marL="0" indent="0" algn="just">
              <a:lnSpc>
                <a:spcPts val="2900"/>
              </a:lnSpc>
              <a:buNone/>
            </a:pPr>
            <a:r>
              <a:rPr lang="en-IN" dirty="0">
                <a:latin typeface="Times New Roman" panose="02020603050405020304" pitchFamily="18" charset="0"/>
                <a:cs typeface="Times New Roman" panose="02020603050405020304" pitchFamily="18" charset="0"/>
              </a:rPr>
              <a:t>[5] </a:t>
            </a:r>
            <a:r>
              <a:rPr lang="en-IN" dirty="0" err="1">
                <a:latin typeface="Times New Roman" panose="02020603050405020304" pitchFamily="18" charset="0"/>
                <a:cs typeface="Times New Roman" panose="02020603050405020304" pitchFamily="18" charset="0"/>
              </a:rPr>
              <a:t>Bhukya</a:t>
            </a:r>
            <a:r>
              <a:rPr lang="en-IN" dirty="0">
                <a:latin typeface="Times New Roman" panose="02020603050405020304" pitchFamily="18" charset="0"/>
                <a:cs typeface="Times New Roman" panose="02020603050405020304" pitchFamily="18" charset="0"/>
              </a:rPr>
              <a:t> Madhu, M. Venu Gopala Chari, Ramdas </a:t>
            </a:r>
            <a:r>
              <a:rPr lang="en-IN" dirty="0" err="1">
                <a:latin typeface="Times New Roman" panose="02020603050405020304" pitchFamily="18" charset="0"/>
                <a:cs typeface="Times New Roman" panose="02020603050405020304" pitchFamily="18" charset="0"/>
              </a:rPr>
              <a:t>Vankdothu</a:t>
            </a:r>
            <a:r>
              <a:rPr lang="en-IN" dirty="0">
                <a:latin typeface="Times New Roman" panose="02020603050405020304" pitchFamily="18" charset="0"/>
                <a:cs typeface="Times New Roman" panose="02020603050405020304" pitchFamily="18" charset="0"/>
              </a:rPr>
              <a:t>, Arun Kumar </a:t>
            </a:r>
            <a:r>
              <a:rPr lang="en-IN" dirty="0" err="1">
                <a:latin typeface="Times New Roman" panose="02020603050405020304" pitchFamily="18" charset="0"/>
                <a:cs typeface="Times New Roman" panose="02020603050405020304" pitchFamily="18" charset="0"/>
              </a:rPr>
              <a:t>Silivery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Veerender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Aerranagula</a:t>
            </a:r>
            <a:r>
              <a:rPr lang="en-IN" dirty="0">
                <a:latin typeface="Times New Roman" panose="02020603050405020304" pitchFamily="18" charset="0"/>
                <a:cs typeface="Times New Roman" panose="02020603050405020304" pitchFamily="18" charset="0"/>
              </a:rPr>
              <a:t> - Intrusion Detection Models for IoT Networks via Deep Learning Approaches Measurement: Sensors, Vol. 25, 2023</a:t>
            </a:r>
            <a:endParaRPr lang="en-IN" dirty="0">
              <a:latin typeface="Times New Roman" panose="02020603050405020304" pitchFamily="18" charset="0"/>
              <a:cs typeface="Times New Roman" panose="02020603050405020304" pitchFamily="18" charset="0"/>
            </a:endParaRPr>
          </a:p>
          <a:p>
            <a:pPr>
              <a:lnSpc>
                <a:spcPts val="2900"/>
              </a:lnSpc>
            </a:pPr>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Content Placeholder 2"/>
          <p:cNvSpPr>
            <a:spLocks noGrp="1"/>
          </p:cNvSpPr>
          <p:nvPr>
            <p:ph idx="1"/>
          </p:nvPr>
        </p:nvSpPr>
        <p:spPr>
          <a:xfrm>
            <a:off x="189186" y="1655379"/>
            <a:ext cx="12002814" cy="4811682"/>
          </a:xfrm>
        </p:spPr>
        <p:txBody>
          <a:bodyPr/>
          <a:lstStyle/>
          <a:p>
            <a:pPr marL="0" indent="0" algn="just">
              <a:lnSpc>
                <a:spcPts val="2800"/>
              </a:lnSpc>
              <a:buNone/>
            </a:pPr>
            <a:r>
              <a:rPr lang="en-IN" dirty="0">
                <a:latin typeface="Times New Roman" panose="02020603050405020304" pitchFamily="18" charset="0"/>
                <a:cs typeface="Times New Roman" panose="02020603050405020304" pitchFamily="18" charset="0"/>
              </a:rPr>
              <a:t>[6] Mahmudul Hasan, Md. Milon Islam, Md Ishrak Islam Zarif, M.M.A. Hashem - Attack and Anomaly Detection in IoT Sensors Using Machine Learning Approaches Internet of Things, Vol. 7, 2019</a:t>
            </a:r>
            <a:endParaRPr lang="en-IN" dirty="0">
              <a:latin typeface="Times New Roman" panose="02020603050405020304" pitchFamily="18" charset="0"/>
              <a:cs typeface="Times New Roman" panose="02020603050405020304" pitchFamily="18" charset="0"/>
            </a:endParaRPr>
          </a:p>
          <a:p>
            <a:pPr marL="0" indent="0" algn="just">
              <a:lnSpc>
                <a:spcPts val="2800"/>
              </a:lnSpc>
              <a:buNone/>
            </a:pPr>
            <a:r>
              <a:rPr lang="en-IN" dirty="0">
                <a:latin typeface="Times New Roman" panose="02020603050405020304" pitchFamily="18" charset="0"/>
                <a:cs typeface="Times New Roman" panose="02020603050405020304" pitchFamily="18" charset="0"/>
              </a:rPr>
              <a:t>[7] </a:t>
            </a:r>
            <a:r>
              <a:rPr lang="en-IN" dirty="0" err="1">
                <a:latin typeface="Times New Roman" panose="02020603050405020304" pitchFamily="18" charset="0"/>
                <a:cs typeface="Times New Roman" panose="02020603050405020304" pitchFamily="18" charset="0"/>
              </a:rPr>
              <a:t>Khawla</a:t>
            </a:r>
            <a:r>
              <a:rPr lang="en-IN" dirty="0">
                <a:latin typeface="Times New Roman" panose="02020603050405020304" pitchFamily="18" charset="0"/>
                <a:cs typeface="Times New Roman" panose="02020603050405020304" pitchFamily="18" charset="0"/>
              </a:rPr>
              <a:t> Shalabi, Qasem Abu Al-</a:t>
            </a:r>
            <a:r>
              <a:rPr lang="en-IN" dirty="0" err="1">
                <a:latin typeface="Times New Roman" panose="02020603050405020304" pitchFamily="18" charset="0"/>
                <a:cs typeface="Times New Roman" panose="02020603050405020304" pitchFamily="18" charset="0"/>
              </a:rPr>
              <a:t>Haija</a:t>
            </a:r>
            <a:r>
              <a:rPr lang="en-IN" dirty="0">
                <a:latin typeface="Times New Roman" panose="02020603050405020304" pitchFamily="18" charset="0"/>
                <a:cs typeface="Times New Roman" panose="02020603050405020304" pitchFamily="18" charset="0"/>
              </a:rPr>
              <a:t>, Mustafa Al-</a:t>
            </a:r>
            <a:r>
              <a:rPr lang="en-IN" dirty="0" err="1">
                <a:latin typeface="Times New Roman" panose="02020603050405020304" pitchFamily="18" charset="0"/>
                <a:cs typeface="Times New Roman" panose="02020603050405020304" pitchFamily="18" charset="0"/>
              </a:rPr>
              <a:t>Fayoumi</a:t>
            </a:r>
            <a:r>
              <a:rPr lang="en-IN" dirty="0">
                <a:latin typeface="Times New Roman" panose="02020603050405020304" pitchFamily="18" charset="0"/>
                <a:cs typeface="Times New Roman" panose="02020603050405020304" pitchFamily="18" charset="0"/>
              </a:rPr>
              <a:t> - A Blockchain-Based Intrusion Detection/Prevention Systems in IoT Network: A Systematic Review Procedia Computer Science, Vol. 236, 2024</a:t>
            </a:r>
            <a:endParaRPr lang="en-IN" dirty="0">
              <a:latin typeface="Times New Roman" panose="02020603050405020304" pitchFamily="18" charset="0"/>
              <a:cs typeface="Times New Roman" panose="02020603050405020304" pitchFamily="18" charset="0"/>
            </a:endParaRPr>
          </a:p>
          <a:p>
            <a:pPr marL="0" indent="0" algn="just">
              <a:lnSpc>
                <a:spcPts val="2800"/>
              </a:lnSpc>
              <a:buNone/>
            </a:pPr>
            <a:r>
              <a:rPr lang="en-IN" dirty="0">
                <a:latin typeface="Times New Roman" panose="02020603050405020304" pitchFamily="18" charset="0"/>
                <a:cs typeface="Times New Roman" panose="02020603050405020304" pitchFamily="18" charset="0"/>
              </a:rPr>
              <a:t>[8] Sowmya T, </a:t>
            </a:r>
            <a:r>
              <a:rPr lang="en-IN" dirty="0" err="1">
                <a:latin typeface="Times New Roman" panose="02020603050405020304" pitchFamily="18" charset="0"/>
                <a:cs typeface="Times New Roman" panose="02020603050405020304" pitchFamily="18" charset="0"/>
              </a:rPr>
              <a:t>Dr.</a:t>
            </a:r>
            <a:r>
              <a:rPr lang="en-IN" dirty="0">
                <a:latin typeface="Times New Roman" panose="02020603050405020304" pitchFamily="18" charset="0"/>
                <a:cs typeface="Times New Roman" panose="02020603050405020304" pitchFamily="18" charset="0"/>
              </a:rPr>
              <a:t> Mary Anita E A - A Novel Stable Feature Selection Algorithm for Machine Learning-Based Intrusion Detection System Procedia Computer Science, Vol. 252, 2025</a:t>
            </a:r>
            <a:endParaRPr lang="en-IN" dirty="0">
              <a:latin typeface="Times New Roman" panose="02020603050405020304" pitchFamily="18" charset="0"/>
              <a:cs typeface="Times New Roman" panose="02020603050405020304" pitchFamily="18" charset="0"/>
            </a:endParaRPr>
          </a:p>
          <a:p>
            <a:pPr marL="0" indent="0" algn="just">
              <a:lnSpc>
                <a:spcPts val="2800"/>
              </a:lnSpc>
              <a:buNone/>
            </a:pPr>
            <a:r>
              <a:rPr lang="en-IN" dirty="0">
                <a:latin typeface="Times New Roman" panose="02020603050405020304" pitchFamily="18" charset="0"/>
                <a:cs typeface="Times New Roman" panose="02020603050405020304" pitchFamily="18" charset="0"/>
              </a:rPr>
              <a:t>[9] C. Malathi, I. Naga Padmaja - Identification of Cyber Attacks Using Machine Learning in Smart IoT Networks Materials Today: Proceedings, Vol. 80, 2023</a:t>
            </a:r>
            <a:endParaRPr lang="en-IN" dirty="0">
              <a:latin typeface="Times New Roman" panose="02020603050405020304" pitchFamily="18" charset="0"/>
              <a:cs typeface="Times New Roman" panose="02020603050405020304" pitchFamily="18" charset="0"/>
            </a:endParaRPr>
          </a:p>
          <a:p>
            <a:pPr>
              <a:lnSpc>
                <a:spcPts val="2800"/>
              </a:lnSpc>
            </a:pPr>
            <a:endParaRPr lang="en-IN" dirty="0"/>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extBox 3"/>
          <p:cNvSpPr txBox="1"/>
          <p:nvPr/>
        </p:nvSpPr>
        <p:spPr>
          <a:xfrm>
            <a:off x="3113405" y="3116580"/>
            <a:ext cx="5965825" cy="1106805"/>
          </a:xfrm>
          <a:prstGeom prst="rect">
            <a:avLst/>
          </a:prstGeom>
          <a:noFill/>
        </p:spPr>
        <p:txBody>
          <a:bodyPr wrap="square" rtlCol="0">
            <a:spAutoFit/>
          </a:bodyPr>
          <a:lstStyle/>
          <a:p>
            <a:pPr algn="ctr"/>
            <a:r>
              <a:rPr lang="en-IN" sz="6600" b="1" dirty="0">
                <a:solidFill>
                  <a:srgbClr val="0000CC"/>
                </a:solidFill>
              </a:rPr>
              <a:t>THANK YOU</a:t>
            </a:r>
            <a:endParaRPr lang="en-IN" sz="6600" b="1" dirty="0">
              <a:solidFill>
                <a:srgbClr val="0000CC"/>
              </a:solidFill>
            </a:endParaRPr>
          </a:p>
        </p:txBody>
      </p:sp>
      <p:sp>
        <p:nvSpPr>
          <p:cNvPr id="2" name="Slide Number Placeholder 0"/>
          <p:cNvSpPr>
            <a:spLocks noGrp="1"/>
          </p:cNvSpPr>
          <p:nvPr>
            <p:ph type="sldNum" sz="quarter" idx="12"/>
          </p:nvPr>
        </p:nvSpPr>
        <p:spPr/>
        <p:txBody>
          <a:bodyPr/>
          <a:lstStyle/>
          <a:p>
            <a:fld id="{06B527F4-FB77-4950-8E80-34B52BECEF05}"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14198</Words>
  <Application>WPS Slides</Application>
  <PresentationFormat>Widescreen</PresentationFormat>
  <Paragraphs>518</Paragraphs>
  <Slides>29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Arial</vt:lpstr>
      <vt:lpstr>SimSun</vt:lpstr>
      <vt:lpstr>Wingdings</vt:lpstr>
      <vt:lpstr>Times New Roman</vt:lpstr>
      <vt:lpstr>Cambria</vt:lpstr>
      <vt:lpstr>Calibri</vt:lpstr>
      <vt:lpstr>Microsoft YaHei</vt:lpstr>
      <vt:lpstr>Arial Unicode MS</vt:lpstr>
      <vt:lpstr>Office Theme</vt:lpstr>
      <vt:lpstr>Platforms</vt:lpstr>
      <vt:lpstr>BASE PAPER DETAILS</vt:lpstr>
      <vt:lpstr>ABSTRACT</vt:lpstr>
      <vt:lpstr>PROBLEM STATEMENT</vt:lpstr>
      <vt:lpstr>LITERATURE SURVEY</vt:lpstr>
      <vt:lpstr>PowerPoint 演示文稿</vt:lpstr>
      <vt:lpstr>PowerPoint 演示文稿</vt:lpstr>
      <vt:lpstr>PowerPoint 演示文稿</vt:lpstr>
      <vt:lpstr>OBJECTIVE</vt:lpstr>
      <vt:lpstr>WORK PLAN</vt:lpstr>
      <vt:lpstr>EXISTING SYSTEM WITH LIMITATIONS</vt:lpstr>
      <vt:lpstr>PROPOSED SYSTEM ARCHITECTURE</vt:lpstr>
      <vt:lpstr>PROPOSED SYSTEM</vt:lpstr>
      <vt:lpstr>Dataset Preprocessing</vt:lpstr>
      <vt:lpstr>Dataset Preprocessing</vt:lpstr>
      <vt:lpstr>Blockchain Implementation</vt:lpstr>
      <vt:lpstr>Blockchain Implementation</vt:lpstr>
      <vt:lpstr>Blockchain Implementation</vt:lpstr>
      <vt:lpstr>Models Explanation</vt:lpstr>
      <vt:lpstr>Models Explanation</vt:lpstr>
      <vt:lpstr>Models Explanation</vt:lpstr>
      <vt:lpstr>Accuracy comparison for Local and Global Model</vt:lpstr>
      <vt:lpstr>Model Accuracy Comparison</vt:lpstr>
      <vt:lpstr>Results</vt:lpstr>
      <vt:lpstr>Results</vt:lpstr>
      <vt:lpstr>                CONCLUSION</vt:lpstr>
      <vt:lpstr>REFERENCES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Platforms</dc:title>
  <dc:creator>raj</dc:creator>
  <cp:lastModifiedBy>Prakadeesh</cp:lastModifiedBy>
  <cp:revision>14</cp:revision>
  <dcterms:created xsi:type="dcterms:W3CDTF">2025-02-18T04:06:00Z</dcterms:created>
  <dcterms:modified xsi:type="dcterms:W3CDTF">2025-05-14T14:29:41Z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0355C714D62A467696B8C137802FEDA1_12</vt:lpwstr>
  </property>
  <property fmtid="{D5CDD505-2E9C-101B-9397-08002B2CF9AE}" pid="3" name="KSOProductBuildVer">
    <vt:lpwstr>1033-12.2.0.20795</vt:lpwstr>
  </property>
</Properties>
</file>